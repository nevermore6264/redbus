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  <p:sldMasterId id="2147483718" r:id="rId5"/>
  </p:sldMasterIdLst>
  <p:notesMasterIdLst>
    <p:notesMasterId r:id="rId22"/>
  </p:notesMasterIdLst>
  <p:handoutMasterIdLst>
    <p:handoutMasterId r:id="rId23"/>
  </p:handoutMasterIdLst>
  <p:sldIdLst>
    <p:sldId id="322" r:id="rId6"/>
    <p:sldId id="323" r:id="rId7"/>
    <p:sldId id="257" r:id="rId8"/>
    <p:sldId id="317" r:id="rId9"/>
    <p:sldId id="324" r:id="rId10"/>
    <p:sldId id="318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60" autoAdjust="0"/>
  </p:normalViewPr>
  <p:slideViewPr>
    <p:cSldViewPr snapToGrid="0">
      <p:cViewPr varScale="1">
        <p:scale>
          <a:sx n="89" d="100"/>
          <a:sy n="89" d="100"/>
        </p:scale>
        <p:origin x="196" y="60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8B270D-091D-4ED2-8C85-0898DD7D9F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81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79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08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40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80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806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726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633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484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14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24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9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26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1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41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147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56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3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684" y="1600201"/>
            <a:ext cx="71945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8433" y="1600201"/>
            <a:ext cx="719666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58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90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366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33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144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0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349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58084" y="274640"/>
            <a:ext cx="364701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684" y="274640"/>
            <a:ext cx="10744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1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11" r:id="rId13"/>
    <p:sldLayoutId id="2147483712" r:id="rId14"/>
    <p:sldLayoutId id="2147483715" r:id="rId15"/>
    <p:sldLayoutId id="2147483717" r:id="rId16"/>
    <p:sldLayoutId id="2147483672" r:id="rId1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C8E23-933D-4B5B-8C4F-1859ECF7B01C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61D1C-0B79-4559-A556-DCDE7B94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4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162" y="302060"/>
            <a:ext cx="121618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TRƯỜNG ĐẠI HỌC SƯ PHẠM KỸ THUẬT</a:t>
            </a:r>
          </a:p>
          <a:p>
            <a:pPr algn="ctr" defTabSz="914377"/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KHOA CÔNG NGHỆ SỐ</a:t>
            </a:r>
          </a:p>
          <a:p>
            <a:pPr algn="ctr" defTabSz="914377"/>
            <a:endParaRPr lang="en-US" sz="3200" b="1" dirty="0">
              <a:solidFill>
                <a:prstClr val="white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6361F-F7AF-7A3A-CC24-0338B319EB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282" y="302060"/>
            <a:ext cx="956471" cy="10399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162" y="2195781"/>
            <a:ext cx="1216183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5800" b="1" dirty="0">
                <a:solidFill>
                  <a:srgbClr val="F8F2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LỄ BẢO VỆ ĐỒ ÁN TỐT NGHIỆP</a:t>
            </a:r>
          </a:p>
          <a:p>
            <a:pPr algn="ctr" defTabSz="914377"/>
            <a:r>
              <a:rPr lang="en-US" sz="3800" b="1" dirty="0" err="1">
                <a:solidFill>
                  <a:srgbClr val="F8F2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Ngành</a:t>
            </a:r>
            <a:r>
              <a:rPr lang="en-US" sz="3800" b="1" dirty="0">
                <a:solidFill>
                  <a:srgbClr val="F8F2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: CÔNG NGHỆ THÔNG TIN</a:t>
            </a:r>
          </a:p>
          <a:p>
            <a:pPr algn="ctr" defTabSz="914377"/>
            <a:r>
              <a:rPr lang="en-US" sz="3800" b="1" dirty="0" err="1">
                <a:solidFill>
                  <a:srgbClr val="F8F2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Khóa</a:t>
            </a:r>
            <a:r>
              <a:rPr lang="en-US" sz="3800" b="1" dirty="0">
                <a:solidFill>
                  <a:srgbClr val="F8F2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 2022</a:t>
            </a:r>
          </a:p>
          <a:p>
            <a:pPr algn="ctr" defTabSz="914377"/>
            <a:endParaRPr lang="en-US" sz="4000" b="1" dirty="0">
              <a:solidFill>
                <a:srgbClr val="F8F2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386" y="6090047"/>
            <a:ext cx="12161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3200" i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Đà</a:t>
            </a:r>
            <a:r>
              <a:rPr lang="en-US" sz="3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3200" i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Nẵng</a:t>
            </a: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, </a:t>
            </a:r>
            <a:r>
              <a:rPr lang="en-US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ngày</a:t>
            </a:r>
            <a:r>
              <a:rPr 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 28 </a:t>
            </a:r>
            <a:r>
              <a:rPr lang="en-US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tháng</a:t>
            </a:r>
            <a:r>
              <a:rPr 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 06 </a:t>
            </a:r>
            <a:r>
              <a:rPr lang="en-US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năm</a:t>
            </a:r>
            <a:r>
              <a:rPr 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sym typeface="Arial"/>
              </a:rPr>
              <a:t>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0" y="306763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8548"/>
      </p:ext>
    </p:extLst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6ADB48BE-3BAC-2A7D-1C0F-95CBD4D5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87" y="229909"/>
            <a:ext cx="1131748" cy="122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blue and white logo&#10;&#10;Description automatically generated with low confidence">
            <a:extLst>
              <a:ext uri="{FF2B5EF4-FFF2-40B4-BE49-F238E27FC236}">
                <a16:creationId xmlns:a16="http://schemas.microsoft.com/office/drawing/2014/main" id="{A17D90A7-324C-CB88-AE84-CFBDE02AC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21" y="330090"/>
            <a:ext cx="1027121" cy="1020153"/>
          </a:xfrm>
          <a:prstGeom prst="rect">
            <a:avLst/>
          </a:prstGeom>
        </p:spPr>
      </p:pic>
      <p:sp>
        <p:nvSpPr>
          <p:cNvPr id="18" name="Google Shape;82;p21">
            <a:extLst>
              <a:ext uri="{FF2B5EF4-FFF2-40B4-BE49-F238E27FC236}">
                <a16:creationId xmlns:a16="http://schemas.microsoft.com/office/drawing/2014/main" id="{1357BE55-BF9F-2D92-4AD9-591807AC1175}"/>
              </a:ext>
            </a:extLst>
          </p:cNvPr>
          <p:cNvSpPr txBox="1">
            <a:spLocks/>
          </p:cNvSpPr>
          <p:nvPr/>
        </p:nvSpPr>
        <p:spPr>
          <a:xfrm>
            <a:off x="3117858" y="229909"/>
            <a:ext cx="5926940" cy="45725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vi-VN" sz="2400" b="1" dirty="0">
                <a:latin typeface="Roboto" panose="02000000000000000000" pitchFamily="2" charset="0"/>
                <a:ea typeface="Roboto" panose="02000000000000000000" pitchFamily="2" charset="0"/>
              </a:rPr>
              <a:t>TRƯỜNG ĐẠI HỌC SƯ PHẠM KỸ THUẬT</a:t>
            </a:r>
          </a:p>
        </p:txBody>
      </p:sp>
      <p:sp>
        <p:nvSpPr>
          <p:cNvPr id="19" name="Google Shape;82;p21">
            <a:extLst>
              <a:ext uri="{FF2B5EF4-FFF2-40B4-BE49-F238E27FC236}">
                <a16:creationId xmlns:a16="http://schemas.microsoft.com/office/drawing/2014/main" id="{D3C47517-FD59-E4C7-E196-643DEB507F5A}"/>
              </a:ext>
            </a:extLst>
          </p:cNvPr>
          <p:cNvSpPr txBox="1">
            <a:spLocks/>
          </p:cNvSpPr>
          <p:nvPr/>
        </p:nvSpPr>
        <p:spPr>
          <a:xfrm>
            <a:off x="3571535" y="611540"/>
            <a:ext cx="5019586" cy="45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48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KHOA CÔNG NGHỆ SỐ</a:t>
            </a:r>
            <a:endParaRPr lang="vi-VN" sz="24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Google Shape;82;p21">
            <a:extLst>
              <a:ext uri="{FF2B5EF4-FFF2-40B4-BE49-F238E27FC236}">
                <a16:creationId xmlns:a16="http://schemas.microsoft.com/office/drawing/2014/main" id="{4AC9E677-93BE-5C12-AECF-08AE75C8E958}"/>
              </a:ext>
            </a:extLst>
          </p:cNvPr>
          <p:cNvSpPr txBox="1">
            <a:spLocks/>
          </p:cNvSpPr>
          <p:nvPr/>
        </p:nvSpPr>
        <p:spPr>
          <a:xfrm>
            <a:off x="1195825" y="1568744"/>
            <a:ext cx="9800350" cy="204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48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LỄ BẢO VỆ ĐỒ ÁN TỐT NGHIỆP</a:t>
            </a:r>
          </a:p>
          <a:p>
            <a:pPr algn="ctr">
              <a:lnSpc>
                <a:spcPct val="130000"/>
              </a:lnSpc>
            </a:pPr>
            <a:r>
              <a:rPr lang="en-US" sz="24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Đề</a:t>
            </a:r>
            <a:r>
              <a:rPr lang="en-US" sz="24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tài</a:t>
            </a:r>
            <a:r>
              <a:rPr lang="en-US" sz="24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algn="ctr">
              <a:lnSpc>
                <a:spcPct val="130000"/>
              </a:lnSpc>
            </a:pPr>
            <a:r>
              <a:rPr lang="en-001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XÂY DỰNG WEBSITE BÁN VÉ XE KHÁCH CHO NHÀ XE REDBUS</a:t>
            </a:r>
            <a:endParaRPr lang="vi-VN" sz="24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Google Shape;82;p21">
            <a:extLst>
              <a:ext uri="{FF2B5EF4-FFF2-40B4-BE49-F238E27FC236}">
                <a16:creationId xmlns:a16="http://schemas.microsoft.com/office/drawing/2014/main" id="{92390CA9-0F79-1C66-B64A-A0B9A7B465FE}"/>
              </a:ext>
            </a:extLst>
          </p:cNvPr>
          <p:cNvSpPr txBox="1">
            <a:spLocks/>
          </p:cNvSpPr>
          <p:nvPr/>
        </p:nvSpPr>
        <p:spPr>
          <a:xfrm>
            <a:off x="2064615" y="6246460"/>
            <a:ext cx="8236917" cy="26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48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Đà</a:t>
            </a:r>
            <a:r>
              <a:rPr lang="en-US" sz="20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Nẵng</a:t>
            </a:r>
            <a:r>
              <a:rPr lang="en-US" sz="20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0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ngày</a:t>
            </a:r>
            <a:r>
              <a:rPr lang="en-US" sz="20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28 </a:t>
            </a:r>
            <a:r>
              <a:rPr lang="en-US" sz="20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tháng</a:t>
            </a:r>
            <a:r>
              <a:rPr lang="en-US" sz="20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06 </a:t>
            </a:r>
            <a:r>
              <a:rPr lang="en-US" sz="2000" b="1" i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năm</a:t>
            </a:r>
            <a:r>
              <a:rPr lang="en-US" sz="2000" b="1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2026</a:t>
            </a:r>
            <a:endParaRPr lang="vi-VN" sz="2000" b="1" i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Google Shape;82;p21">
            <a:extLst>
              <a:ext uri="{FF2B5EF4-FFF2-40B4-BE49-F238E27FC236}">
                <a16:creationId xmlns:a16="http://schemas.microsoft.com/office/drawing/2014/main" id="{252E8256-53E3-2304-AF81-565E05E97EA4}"/>
              </a:ext>
            </a:extLst>
          </p:cNvPr>
          <p:cNvSpPr txBox="1">
            <a:spLocks/>
          </p:cNvSpPr>
          <p:nvPr/>
        </p:nvSpPr>
        <p:spPr>
          <a:xfrm>
            <a:off x="6500388" y="4112307"/>
            <a:ext cx="5691612" cy="125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48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Sinh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thực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hiện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: Cao Đức Chính</a:t>
            </a:r>
          </a:p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Giảng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viên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hướng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dẫn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 </a:t>
            </a:r>
            <a:r>
              <a:rPr lang="en-US" sz="18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ThS</a:t>
            </a: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Nguyễn Thị Hà Quyên</a:t>
            </a:r>
            <a:endParaRPr lang="vi-VN" sz="18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4270"/>
      </p:ext>
    </p:extLst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71" y="1239351"/>
            <a:ext cx="3463625" cy="1181014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NỘI DUNG</a:t>
            </a:r>
            <a:br>
              <a:rPr lang="en-US" dirty="0"/>
            </a:br>
            <a:r>
              <a:rPr lang="en-US" dirty="0"/>
              <a:t> BÁO CÁO</a:t>
            </a:r>
          </a:p>
        </p:txBody>
      </p:sp>
      <p:sp>
        <p:nvSpPr>
          <p:cNvPr id="10" name="MH_Number_2">
            <a:extLst>
              <a:ext uri="{FF2B5EF4-FFF2-40B4-BE49-F238E27FC236}">
                <a16:creationId xmlns:a16="http://schemas.microsoft.com/office/drawing/2014/main" id="{E574A9EA-F1BA-6EFD-8691-AA9E9AC0F4A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81525" y="1764228"/>
            <a:ext cx="741600" cy="4817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2531" kern="0" dirty="0">
                <a:solidFill>
                  <a:srgbClr val="FF0000"/>
                </a:solidFill>
                <a:latin typeface="Arial" panose="020B0604020202020204" pitchFamily="34" charset="0"/>
                <a:ea typeface="印品黑体" panose="00000500000000000000" pitchFamily="2" charset="-122"/>
                <a:cs typeface="Verdana" panose="020B0604030504040204" pitchFamily="34" charset="0"/>
                <a:sym typeface="Arial" panose="020B0604020202020204" pitchFamily="34" charset="0"/>
              </a:rPr>
              <a:t>01</a:t>
            </a:r>
            <a:endParaRPr lang="en-US" sz="2531" kern="0" dirty="0">
              <a:solidFill>
                <a:srgbClr val="FF0000"/>
              </a:solidFill>
              <a:latin typeface="Arial" panose="020B0604020202020204" pitchFamily="34" charset="0"/>
              <a:ea typeface="印品黑体" panose="00000500000000000000" pitchFamily="2" charset="-122"/>
              <a:cs typeface="Verdan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MH_Entry_2">
            <a:extLst>
              <a:ext uri="{FF2B5EF4-FFF2-40B4-BE49-F238E27FC236}">
                <a16:creationId xmlns:a16="http://schemas.microsoft.com/office/drawing/2014/main" id="{5BA15A04-648E-8B3B-06DE-7EFF2C59D0D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23126" y="1829858"/>
            <a:ext cx="4071580" cy="46354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4906" tIns="49352" rIns="94906" bIns="49352" anchor="ctr">
            <a:normAutofit/>
          </a:bodyPr>
          <a:lstStyle/>
          <a:p>
            <a:pPr lvl="0" algn="ctr"/>
            <a:r>
              <a:rPr lang="en-US" b="1" dirty="0" err="1">
                <a:solidFill>
                  <a:schemeClr val="bg1"/>
                </a:solidFill>
              </a:rPr>
              <a:t>Tổng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quan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đề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tài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MH_Number_3">
            <a:extLst>
              <a:ext uri="{FF2B5EF4-FFF2-40B4-BE49-F238E27FC236}">
                <a16:creationId xmlns:a16="http://schemas.microsoft.com/office/drawing/2014/main" id="{C9D96A6E-1AC6-3E0E-0F97-2910877556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481525" y="2668472"/>
            <a:ext cx="741600" cy="4817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2531" kern="0" dirty="0">
                <a:solidFill>
                  <a:srgbClr val="7030A0"/>
                </a:solidFill>
                <a:latin typeface="Arial" panose="020B0604020202020204" pitchFamily="34" charset="0"/>
                <a:ea typeface="印品黑体" panose="00000500000000000000" pitchFamily="2" charset="-122"/>
                <a:cs typeface="Verdana" panose="020B0604030504040204" pitchFamily="34" charset="0"/>
                <a:sym typeface="Arial" panose="020B0604020202020204" pitchFamily="34" charset="0"/>
              </a:rPr>
              <a:t>02</a:t>
            </a:r>
            <a:endParaRPr lang="en-US" sz="2531" kern="0" dirty="0">
              <a:solidFill>
                <a:srgbClr val="7030A0"/>
              </a:solidFill>
              <a:latin typeface="Arial" panose="020B0604020202020204" pitchFamily="34" charset="0"/>
              <a:ea typeface="印品黑体" panose="00000500000000000000" pitchFamily="2" charset="-122"/>
              <a:cs typeface="Verdan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MH_Entry_3">
            <a:extLst>
              <a:ext uri="{FF2B5EF4-FFF2-40B4-BE49-F238E27FC236}">
                <a16:creationId xmlns:a16="http://schemas.microsoft.com/office/drawing/2014/main" id="{A9806169-A309-46DA-C1D5-73C2AD41458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23125" y="2734102"/>
            <a:ext cx="4071580" cy="46354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94906" tIns="49352" rIns="94906" bIns="49352" anchor="ctr">
            <a:normAutofit/>
          </a:bodyPr>
          <a:lstStyle/>
          <a:p>
            <a:pPr lvl="0" algn="ctr"/>
            <a:r>
              <a:rPr lang="en-US" b="1" dirty="0" err="1">
                <a:solidFill>
                  <a:schemeClr val="bg1"/>
                </a:solidFill>
              </a:rPr>
              <a:t>Phân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tích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thiết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kế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hệ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thống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MH_Number_4">
            <a:extLst>
              <a:ext uri="{FF2B5EF4-FFF2-40B4-BE49-F238E27FC236}">
                <a16:creationId xmlns:a16="http://schemas.microsoft.com/office/drawing/2014/main" id="{0D9254BF-E4C7-439B-6A21-186239536D2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481525" y="3572715"/>
            <a:ext cx="741600" cy="4817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2531" kern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印品黑体" panose="00000500000000000000" pitchFamily="2" charset="-122"/>
                <a:cs typeface="Verdana" panose="020B0604030504040204" pitchFamily="34" charset="0"/>
                <a:sym typeface="Arial" panose="020B0604020202020204" pitchFamily="34" charset="0"/>
              </a:rPr>
              <a:t>03</a:t>
            </a:r>
            <a:endParaRPr lang="en-US" sz="2531" kern="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印品黑体" panose="00000500000000000000" pitchFamily="2" charset="-122"/>
              <a:cs typeface="Verdan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MH_Entry_4">
            <a:extLst>
              <a:ext uri="{FF2B5EF4-FFF2-40B4-BE49-F238E27FC236}">
                <a16:creationId xmlns:a16="http://schemas.microsoft.com/office/drawing/2014/main" id="{DE114917-12CE-AAFC-B887-2372AC6F5D0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223125" y="3652544"/>
            <a:ext cx="4071580" cy="46354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4906" tIns="49352" rIns="94906" bIns="49352" anchor="ctr">
            <a:normAutofit/>
          </a:bodyPr>
          <a:lstStyle/>
          <a:p>
            <a:pPr lvl="0" algn="ctr"/>
            <a:r>
              <a:rPr lang="en-US" b="1" dirty="0" err="1">
                <a:solidFill>
                  <a:schemeClr val="bg1"/>
                </a:solidFill>
              </a:rPr>
              <a:t>Công</a:t>
            </a:r>
            <a:r>
              <a:rPr lang="en-US" b="1" dirty="0">
                <a:solidFill>
                  <a:schemeClr val="bg1"/>
                </a:solidFill>
              </a:rPr>
              <a:t>  </a:t>
            </a:r>
            <a:r>
              <a:rPr lang="en-US" b="1" dirty="0" err="1">
                <a:solidFill>
                  <a:schemeClr val="bg1"/>
                </a:solidFill>
              </a:rPr>
              <a:t>nghệ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sử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dụng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0" name="MH_Entry_2">
            <a:extLst>
              <a:ext uri="{FF2B5EF4-FFF2-40B4-BE49-F238E27FC236}">
                <a16:creationId xmlns:a16="http://schemas.microsoft.com/office/drawing/2014/main" id="{C993C983-E9AB-579A-979A-0D1959B73A0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223125" y="4429587"/>
            <a:ext cx="4071580" cy="46354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4906" tIns="49352" rIns="94906" bIns="49352" anchor="ctr">
            <a:normAutofit/>
          </a:bodyPr>
          <a:lstStyle/>
          <a:p>
            <a:pPr lvl="0" algn="ctr"/>
            <a:r>
              <a:rPr lang="en-US" b="1" dirty="0" err="1">
                <a:solidFill>
                  <a:schemeClr val="bg1"/>
                </a:solidFill>
              </a:rPr>
              <a:t>Xây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dựng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chương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trình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2" name="MH_Number_4">
            <a:extLst>
              <a:ext uri="{FF2B5EF4-FFF2-40B4-BE49-F238E27FC236}">
                <a16:creationId xmlns:a16="http://schemas.microsoft.com/office/drawing/2014/main" id="{CA39BEE3-9E69-B566-4B08-C0C37A6DEEF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481525" y="4330086"/>
            <a:ext cx="741600" cy="4817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2531" kern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印品黑体" panose="00000500000000000000" pitchFamily="2" charset="-122"/>
                <a:cs typeface="Verdana" panose="020B0604030504040204" pitchFamily="34" charset="0"/>
                <a:sym typeface="Arial" panose="020B0604020202020204" pitchFamily="34" charset="0"/>
              </a:rPr>
              <a:t>04</a:t>
            </a:r>
            <a:endParaRPr lang="en-US" sz="2531" kern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印品黑体" panose="00000500000000000000" pitchFamily="2" charset="-122"/>
              <a:cs typeface="Verdan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7F4F0-B15C-907B-18BE-9A22CC6D7F46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3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3" grpId="0" animBg="1"/>
      <p:bldP spid="22" grpId="0" animBg="1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5A52-EB72-8381-9004-15EFA08A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842" y="-119004"/>
            <a:ext cx="7687131" cy="1189806"/>
          </a:xfrm>
        </p:spPr>
        <p:txBody>
          <a:bodyPr/>
          <a:lstStyle/>
          <a:p>
            <a:pPr algn="ctr"/>
            <a:r>
              <a:rPr lang="en-US" dirty="0"/>
              <a:t>TỔNG QUAN ĐỀ TÀI 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A9BA3A-BA57-41C0-9EAC-F6F55B27C44B}"/>
              </a:ext>
            </a:extLst>
          </p:cNvPr>
          <p:cNvGrpSpPr/>
          <p:nvPr/>
        </p:nvGrpSpPr>
        <p:grpSpPr>
          <a:xfrm>
            <a:off x="4445153" y="1039963"/>
            <a:ext cx="7317356" cy="2661851"/>
            <a:chOff x="509697" y="1405708"/>
            <a:chExt cx="3951862" cy="252396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AC2EFD0-D0BE-C1D6-E816-74B5BAA7FE09}"/>
                </a:ext>
              </a:extLst>
            </p:cNvPr>
            <p:cNvSpPr/>
            <p:nvPr/>
          </p:nvSpPr>
          <p:spPr>
            <a:xfrm>
              <a:off x="1000899" y="2023149"/>
              <a:ext cx="3460660" cy="19065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vi-VN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Xây dựng website bán vé xe khách RedBus với giao diện trực quan, giúp khách tra cứu chuyến, chọn ghế và thanh toán thuận tiện.</a:t>
              </a:r>
            </a:p>
            <a:p>
              <a:pPr marL="285750" indent="-285750">
                <a:buFontTx/>
                <a:buChar char="-"/>
              </a:pPr>
              <a:r>
                <a:rPr lang="vi-VN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Tiết kiệm thời gian, dễ so sánh giá vé, lịch khởi hành và điểm dừng trước khi đặt vé.</a:t>
              </a:r>
            </a:p>
            <a:p>
              <a:endParaRPr lang="vi-VN" sz="1266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38F9A0D-7C7C-5CF2-16E2-44A048AA50CB}"/>
                </a:ext>
              </a:extLst>
            </p:cNvPr>
            <p:cNvSpPr txBox="1"/>
            <p:nvPr/>
          </p:nvSpPr>
          <p:spPr>
            <a:xfrm>
              <a:off x="1000901" y="1572374"/>
              <a:ext cx="2895006" cy="456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Mục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tiêu</a:t>
              </a:r>
              <a:endParaRPr lang="en-US" sz="2531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B240D8-957C-D03E-5766-2788E442CB25}"/>
                </a:ext>
              </a:extLst>
            </p:cNvPr>
            <p:cNvSpPr txBox="1"/>
            <p:nvPr/>
          </p:nvSpPr>
          <p:spPr>
            <a:xfrm>
              <a:off x="509697" y="1405708"/>
              <a:ext cx="622507" cy="703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218" dirty="0">
                  <a:latin typeface="Arial" panose="020B0604020202020204" pitchFamily="34" charset="0"/>
                  <a:cs typeface="Arial" panose="020B0604020202020204" pitchFamily="34" charset="0"/>
                </a:rPr>
                <a:t>1.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A41A44-C358-7EB2-8CA5-4D38A921D1B4}"/>
              </a:ext>
            </a:extLst>
          </p:cNvPr>
          <p:cNvGrpSpPr/>
          <p:nvPr/>
        </p:nvGrpSpPr>
        <p:grpSpPr>
          <a:xfrm>
            <a:off x="4445153" y="2888113"/>
            <a:ext cx="7317356" cy="1787438"/>
            <a:chOff x="503670" y="2747743"/>
            <a:chExt cx="6682148" cy="169485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5EFE189-E3C2-ED34-63B8-E6BF6024F819}"/>
                </a:ext>
              </a:extLst>
            </p:cNvPr>
            <p:cNvSpPr/>
            <p:nvPr/>
          </p:nvSpPr>
          <p:spPr>
            <a:xfrm>
              <a:off x="994872" y="3469935"/>
              <a:ext cx="6190946" cy="9726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Thiết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UI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rõ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ràng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thuận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tiện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tìm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chuyến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đặt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vé</a:t>
              </a:r>
              <a:endParaRPr lang="en-US" sz="1600" dirty="0">
                <a:solidFill>
                  <a:srgbClr val="44546A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chức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cốt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lõi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đặt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vé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cứu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vé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thanh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toán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PayOS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vận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hành</a:t>
              </a:r>
              <a:endParaRPr lang="en-US" sz="1600" dirty="0">
                <a:solidFill>
                  <a:srgbClr val="44546A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Tx/>
                <a:buChar char="-"/>
              </a:pPr>
              <a:endParaRPr lang="en-US" sz="1266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AF42BA0-E038-A6E1-43E5-FDA17E39DA6B}"/>
                </a:ext>
              </a:extLst>
            </p:cNvPr>
            <p:cNvSpPr txBox="1"/>
            <p:nvPr/>
          </p:nvSpPr>
          <p:spPr>
            <a:xfrm>
              <a:off x="994874" y="2951576"/>
              <a:ext cx="2895006" cy="456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Yêu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cầu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dự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án</a:t>
              </a:r>
              <a:endParaRPr lang="en-US" sz="2531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68C3D6-DDD5-DD13-D944-578DF8140599}"/>
                </a:ext>
              </a:extLst>
            </p:cNvPr>
            <p:cNvSpPr txBox="1"/>
            <p:nvPr/>
          </p:nvSpPr>
          <p:spPr>
            <a:xfrm>
              <a:off x="503670" y="2747743"/>
              <a:ext cx="622508" cy="703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218" dirty="0">
                  <a:latin typeface="Arial" panose="020B0604020202020204" pitchFamily="34" charset="0"/>
                  <a:cs typeface="Arial" panose="020B0604020202020204" pitchFamily="34" charset="0"/>
                </a:rPr>
                <a:t>2.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F8EC4B9-14A7-52F7-6ED1-7087507BA3A7}"/>
              </a:ext>
            </a:extLst>
          </p:cNvPr>
          <p:cNvGrpSpPr/>
          <p:nvPr/>
        </p:nvGrpSpPr>
        <p:grpSpPr>
          <a:xfrm>
            <a:off x="4438380" y="4736261"/>
            <a:ext cx="7324129" cy="1572417"/>
            <a:chOff x="504955" y="4270117"/>
            <a:chExt cx="4180220" cy="149096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50580B-AF96-BE1F-A872-3752DA212FC4}"/>
                </a:ext>
              </a:extLst>
            </p:cNvPr>
            <p:cNvSpPr/>
            <p:nvPr/>
          </p:nvSpPr>
          <p:spPr>
            <a:xfrm>
              <a:off x="1002579" y="4973133"/>
              <a:ext cx="3682596" cy="7879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tài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triển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khai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bán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vé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xe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khách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liên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tỉnh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phạm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nghiên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cứu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tại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TP.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Đà</a:t>
              </a:r>
              <a:r>
                <a:rPr lang="en-US" sz="1600" dirty="0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solidFill>
                    <a:srgbClr val="44546A">
                      <a:lumMod val="5000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Nẵng</a:t>
              </a:r>
              <a:endParaRPr lang="vi-VN" sz="1266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7B89E50-346F-910F-9287-C86D4F20F899}"/>
                </a:ext>
              </a:extLst>
            </p:cNvPr>
            <p:cNvSpPr txBox="1"/>
            <p:nvPr/>
          </p:nvSpPr>
          <p:spPr>
            <a:xfrm>
              <a:off x="1065021" y="4437489"/>
              <a:ext cx="2895006" cy="456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Phạm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vi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nghiên</a:t>
              </a:r>
              <a:r>
                <a:rPr lang="en-US" sz="2531" dirty="0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531" dirty="0" err="1">
                  <a:solidFill>
                    <a:srgbClr val="44546A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cứu</a:t>
              </a:r>
              <a:endParaRPr lang="en-US" sz="2531" dirty="0">
                <a:solidFill>
                  <a:srgbClr val="44546A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F1C8D9-720E-6095-DE2E-D1AD04E6AC43}"/>
                </a:ext>
              </a:extLst>
            </p:cNvPr>
            <p:cNvSpPr txBox="1"/>
            <p:nvPr/>
          </p:nvSpPr>
          <p:spPr>
            <a:xfrm>
              <a:off x="504955" y="4270117"/>
              <a:ext cx="622507" cy="703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218" dirty="0">
                  <a:latin typeface="Arial" panose="020B0604020202020204" pitchFamily="34" charset="0"/>
                  <a:cs typeface="Arial" panose="020B0604020202020204" pitchFamily="34" charset="0"/>
                </a:rPr>
                <a:t>3.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DE208A-B436-CCFE-6D15-4B1CC93BCBF3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4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4616221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  <p:bldP spid="26" grpId="1"/>
      <p:bldP spid="27" grpId="0"/>
      <p:bldP spid="27" grpId="1"/>
      <p:bldP spid="28" grpId="0"/>
      <p:bldP spid="28" grpId="1"/>
      <p:bldP spid="30" grpId="0"/>
      <p:bldP spid="30" grpId="1"/>
      <p:bldP spid="31" grpId="0"/>
      <p:bldP spid="31" grpId="1"/>
      <p:bldP spid="32" grpId="0"/>
      <p:bldP spid="32" grpId="1"/>
      <p:bldP spid="34" grpId="0"/>
      <p:bldP spid="34" grpId="1"/>
      <p:bldP spid="35" grpId="0"/>
      <p:bldP spid="35" grpId="1"/>
      <p:bldP spid="36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541638" y="307122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oudy Old Style (Headings)"/>
                <a:ea typeface="Roboto" panose="02000000000000000000" pitchFamily="2" charset="0"/>
                <a:sym typeface="Fira Sans Extra Condensed SemiBold"/>
              </a:rPr>
              <a:t>PHÂN TÍCH THIẾT KẾ HỆ THỐNG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104F823-46FC-4282-9529-837755431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0516" y="313157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E5D90-1216-DD87-C173-6F17B404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16" y="1930236"/>
            <a:ext cx="4807973" cy="3925664"/>
          </a:xfrm>
          <a:prstGeom prst="rect">
            <a:avLst/>
          </a:prstGeom>
        </p:spPr>
      </p:pic>
      <p:sp>
        <p:nvSpPr>
          <p:cNvPr id="8" name="Google Shape;472;p19">
            <a:extLst>
              <a:ext uri="{FF2B5EF4-FFF2-40B4-BE49-F238E27FC236}">
                <a16:creationId xmlns:a16="http://schemas.microsoft.com/office/drawing/2014/main" id="{FE79ADA3-84F8-DC8F-FB35-790A465BD7D3}"/>
              </a:ext>
            </a:extLst>
          </p:cNvPr>
          <p:cNvSpPr txBox="1"/>
          <p:nvPr/>
        </p:nvSpPr>
        <p:spPr>
          <a:xfrm>
            <a:off x="452285" y="1210071"/>
            <a:ext cx="3439086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1.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Các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tác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nhân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chính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12" name="Google Shape;1296;p26">
            <a:extLst>
              <a:ext uri="{FF2B5EF4-FFF2-40B4-BE49-F238E27FC236}">
                <a16:creationId xmlns:a16="http://schemas.microsoft.com/office/drawing/2014/main" id="{DBA99CFF-87F3-7FB5-0756-9508751585D0}"/>
              </a:ext>
            </a:extLst>
          </p:cNvPr>
          <p:cNvSpPr txBox="1"/>
          <p:nvPr/>
        </p:nvSpPr>
        <p:spPr>
          <a:xfrm>
            <a:off x="870989" y="1803963"/>
            <a:ext cx="2395200" cy="18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spcAft>
                <a:spcPts val="12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kern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Khách vãng lai</a:t>
            </a:r>
          </a:p>
          <a:p>
            <a:pPr marL="285750" indent="-285750">
              <a:spcAft>
                <a:spcPts val="12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kern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Khách hàng</a:t>
            </a:r>
          </a:p>
          <a:p>
            <a:pPr marL="285750" indent="-285750">
              <a:spcAft>
                <a:spcPts val="12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kern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Quản trị viên</a:t>
            </a:r>
            <a:endParaRPr lang="en" sz="20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2AA0D-D51A-2B70-1A66-3EDB2077369B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5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656116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900A-321E-9B5B-1413-B314F2F3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804" y="350032"/>
            <a:ext cx="8467760" cy="788681"/>
          </a:xfrm>
        </p:spPr>
        <p:txBody>
          <a:bodyPr/>
          <a:lstStyle/>
          <a:p>
            <a:r>
              <a:rPr lang="en-US" dirty="0"/>
              <a:t>PHÂN TÍCH THIẾT KẾ HỆ THỐNG</a:t>
            </a:r>
          </a:p>
        </p:txBody>
      </p:sp>
      <p:sp>
        <p:nvSpPr>
          <p:cNvPr id="9" name="Google Shape;472;p19">
            <a:extLst>
              <a:ext uri="{FF2B5EF4-FFF2-40B4-BE49-F238E27FC236}">
                <a16:creationId xmlns:a16="http://schemas.microsoft.com/office/drawing/2014/main" id="{83675B13-9E73-0C41-D346-D601D4087210}"/>
              </a:ext>
            </a:extLst>
          </p:cNvPr>
          <p:cNvSpPr txBox="1"/>
          <p:nvPr/>
        </p:nvSpPr>
        <p:spPr>
          <a:xfrm>
            <a:off x="3147804" y="1541410"/>
            <a:ext cx="4129547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2.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Các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yêu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cầu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năng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46" name="Google Shape;2611;p38">
            <a:extLst>
              <a:ext uri="{FF2B5EF4-FFF2-40B4-BE49-F238E27FC236}">
                <a16:creationId xmlns:a16="http://schemas.microsoft.com/office/drawing/2014/main" id="{9D594A74-8CA3-522A-92C6-6A8866822EFE}"/>
              </a:ext>
            </a:extLst>
          </p:cNvPr>
          <p:cNvSpPr txBox="1"/>
          <p:nvPr/>
        </p:nvSpPr>
        <p:spPr>
          <a:xfrm>
            <a:off x="709449" y="3360718"/>
            <a:ext cx="1766498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Khách vãng lai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47" name="Google Shape;2620;p38">
            <a:extLst>
              <a:ext uri="{FF2B5EF4-FFF2-40B4-BE49-F238E27FC236}">
                <a16:creationId xmlns:a16="http://schemas.microsoft.com/office/drawing/2014/main" id="{D5A51D3C-E8BF-09E6-0B6F-B2E914DBC6A7}"/>
              </a:ext>
            </a:extLst>
          </p:cNvPr>
          <p:cNvSpPr/>
          <p:nvPr/>
        </p:nvSpPr>
        <p:spPr>
          <a:xfrm>
            <a:off x="7510037" y="2913702"/>
            <a:ext cx="407964" cy="40317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49" name="Google Shape;2622;p38">
            <a:extLst>
              <a:ext uri="{FF2B5EF4-FFF2-40B4-BE49-F238E27FC236}">
                <a16:creationId xmlns:a16="http://schemas.microsoft.com/office/drawing/2014/main" id="{5A7598BB-3B99-5233-2851-DA1CE542E97C}"/>
              </a:ext>
            </a:extLst>
          </p:cNvPr>
          <p:cNvCxnSpPr>
            <a:cxnSpLocks/>
          </p:cNvCxnSpPr>
          <p:nvPr/>
        </p:nvCxnSpPr>
        <p:spPr>
          <a:xfrm>
            <a:off x="5723195" y="2694791"/>
            <a:ext cx="1617470" cy="298033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0" name="Google Shape;2623;p38">
            <a:extLst>
              <a:ext uri="{FF2B5EF4-FFF2-40B4-BE49-F238E27FC236}">
                <a16:creationId xmlns:a16="http://schemas.microsoft.com/office/drawing/2014/main" id="{D078C341-FD13-640B-A6C1-4B3D9E99DE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0263" y="2615669"/>
            <a:ext cx="1736186" cy="300914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" name="Google Shape;2605;p38">
            <a:extLst>
              <a:ext uri="{FF2B5EF4-FFF2-40B4-BE49-F238E27FC236}">
                <a16:creationId xmlns:a16="http://schemas.microsoft.com/office/drawing/2014/main" id="{594156D3-F8FE-EF68-80B2-43E3B3D97EEE}"/>
              </a:ext>
            </a:extLst>
          </p:cNvPr>
          <p:cNvSpPr txBox="1"/>
          <p:nvPr/>
        </p:nvSpPr>
        <p:spPr>
          <a:xfrm>
            <a:off x="6893313" y="3265554"/>
            <a:ext cx="2348711" cy="32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Khách</a:t>
            </a:r>
            <a:r>
              <a:rPr lang="en-US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hàng</a:t>
            </a:r>
            <a:endParaRPr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53" name="Google Shape;2616;p38">
            <a:extLst>
              <a:ext uri="{FF2B5EF4-FFF2-40B4-BE49-F238E27FC236}">
                <a16:creationId xmlns:a16="http://schemas.microsoft.com/office/drawing/2014/main" id="{4CDA9952-3185-F7D8-0885-06CD02216F5F}"/>
              </a:ext>
            </a:extLst>
          </p:cNvPr>
          <p:cNvSpPr/>
          <p:nvPr/>
        </p:nvSpPr>
        <p:spPr>
          <a:xfrm>
            <a:off x="4416534" y="1928806"/>
            <a:ext cx="710100" cy="7101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4" name="Google Shape;2621;p38">
            <a:extLst>
              <a:ext uri="{FF2B5EF4-FFF2-40B4-BE49-F238E27FC236}">
                <a16:creationId xmlns:a16="http://schemas.microsoft.com/office/drawing/2014/main" id="{092960C4-4F90-B255-3271-D801B1D8AF7A}"/>
              </a:ext>
            </a:extLst>
          </p:cNvPr>
          <p:cNvSpPr/>
          <p:nvPr/>
        </p:nvSpPr>
        <p:spPr>
          <a:xfrm>
            <a:off x="1388716" y="2938850"/>
            <a:ext cx="407964" cy="403171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55" name="Google Shape;2622;p38">
            <a:extLst>
              <a:ext uri="{FF2B5EF4-FFF2-40B4-BE49-F238E27FC236}">
                <a16:creationId xmlns:a16="http://schemas.microsoft.com/office/drawing/2014/main" id="{605F7400-DE89-DD9C-23A6-AE03887674DE}"/>
              </a:ext>
            </a:extLst>
          </p:cNvPr>
          <p:cNvCxnSpPr>
            <a:cxnSpLocks/>
            <a:stCxn id="53" idx="6"/>
            <a:endCxn id="77" idx="0"/>
          </p:cNvCxnSpPr>
          <p:nvPr/>
        </p:nvCxnSpPr>
        <p:spPr>
          <a:xfrm>
            <a:off x="5126634" y="2283856"/>
            <a:ext cx="2873183" cy="500311"/>
          </a:xfrm>
          <a:prstGeom prst="bentConnector2">
            <a:avLst/>
          </a:prstGeom>
          <a:noFill/>
          <a:ln w="19050" cap="flat" cmpd="sng">
            <a:solidFill>
              <a:srgbClr val="DF3684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6" name="Google Shape;2623;p38">
            <a:extLst>
              <a:ext uri="{FF2B5EF4-FFF2-40B4-BE49-F238E27FC236}">
                <a16:creationId xmlns:a16="http://schemas.microsoft.com/office/drawing/2014/main" id="{AD8BD868-68B4-08B7-1928-2F1B5A278D5A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 rot="10800000" flipV="1">
            <a:off x="1592698" y="2283856"/>
            <a:ext cx="2823836" cy="654994"/>
          </a:xfrm>
          <a:prstGeom prst="bentConnector2">
            <a:avLst/>
          </a:prstGeom>
          <a:noFill/>
          <a:ln w="19050" cap="flat" cmpd="sng">
            <a:solidFill>
              <a:srgbClr val="DF368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7" name="Google Shape;2621;p38">
            <a:extLst>
              <a:ext uri="{FF2B5EF4-FFF2-40B4-BE49-F238E27FC236}">
                <a16:creationId xmlns:a16="http://schemas.microsoft.com/office/drawing/2014/main" id="{7BD0A880-7CDF-B492-65A2-7312F85C2EE5}"/>
              </a:ext>
            </a:extLst>
          </p:cNvPr>
          <p:cNvSpPr/>
          <p:nvPr/>
        </p:nvSpPr>
        <p:spPr>
          <a:xfrm>
            <a:off x="7795835" y="2784167"/>
            <a:ext cx="407964" cy="403171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6" name="Google Shape;3769;p39">
            <a:extLst>
              <a:ext uri="{FF2B5EF4-FFF2-40B4-BE49-F238E27FC236}">
                <a16:creationId xmlns:a16="http://schemas.microsoft.com/office/drawing/2014/main" id="{73E58548-FD11-9497-01A7-DFBC2367D000}"/>
              </a:ext>
            </a:extLst>
          </p:cNvPr>
          <p:cNvSpPr txBox="1">
            <a:spLocks/>
          </p:cNvSpPr>
          <p:nvPr/>
        </p:nvSpPr>
        <p:spPr>
          <a:xfrm>
            <a:off x="82521" y="3631410"/>
            <a:ext cx="3730092" cy="1368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Xem tin tức, FAQ công khai</a:t>
            </a:r>
          </a:p>
          <a:p>
            <a:pPr marL="342900" indent="-342900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Tra cứu vé (mã + SĐT)</a:t>
            </a:r>
          </a:p>
          <a:p>
            <a:pPr marL="342900" indent="-342900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Đăng ký tài khoản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3771;p39">
            <a:extLst>
              <a:ext uri="{FF2B5EF4-FFF2-40B4-BE49-F238E27FC236}">
                <a16:creationId xmlns:a16="http://schemas.microsoft.com/office/drawing/2014/main" id="{A789AD6B-A073-61B5-5217-8FA7746CA2DD}"/>
              </a:ext>
            </a:extLst>
          </p:cNvPr>
          <p:cNvSpPr txBox="1">
            <a:spLocks/>
          </p:cNvSpPr>
          <p:nvPr/>
        </p:nvSpPr>
        <p:spPr>
          <a:xfrm>
            <a:off x="4252228" y="3420602"/>
            <a:ext cx="3505515" cy="30695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Đăng nhập, đăng ký, quên MK (OTP)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Cập nhật hồ sơ, đổi mật khẩu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Tìm chuyến, lọc, chọn ghế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Đặt vé, áp dụng khuyến mãi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1D901-A880-07FC-4484-360827FCFA8A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6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5FA0C-8EC5-2FA0-E78E-9D2EE9857D2A}"/>
              </a:ext>
            </a:extLst>
          </p:cNvPr>
          <p:cNvSpPr txBox="1"/>
          <p:nvPr/>
        </p:nvSpPr>
        <p:spPr>
          <a:xfrm>
            <a:off x="8141560" y="3429000"/>
            <a:ext cx="3575869" cy="129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Thanh toán tiền mặt / PayOS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Vé của tôi, lịch sử thanh toán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vi-VN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Đổi/hủy vé, đánh giá chuyến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7260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6" grpId="0"/>
      <p:bldP spid="51" grpId="0"/>
      <p:bldP spid="106" grpId="0"/>
      <p:bldP spid="1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900A-321E-9B5B-1413-B314F2F3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804" y="350032"/>
            <a:ext cx="8467760" cy="788681"/>
          </a:xfrm>
        </p:spPr>
        <p:txBody>
          <a:bodyPr/>
          <a:lstStyle/>
          <a:p>
            <a:r>
              <a:rPr lang="en-US" dirty="0"/>
              <a:t>PHÂN TÍCH THIẾT KẾ HỆ THỐNG</a:t>
            </a:r>
          </a:p>
        </p:txBody>
      </p:sp>
      <p:sp>
        <p:nvSpPr>
          <p:cNvPr id="9" name="Google Shape;472;p19">
            <a:extLst>
              <a:ext uri="{FF2B5EF4-FFF2-40B4-BE49-F238E27FC236}">
                <a16:creationId xmlns:a16="http://schemas.microsoft.com/office/drawing/2014/main" id="{83675B13-9E73-0C41-D346-D601D4087210}"/>
              </a:ext>
            </a:extLst>
          </p:cNvPr>
          <p:cNvSpPr txBox="1"/>
          <p:nvPr/>
        </p:nvSpPr>
        <p:spPr>
          <a:xfrm>
            <a:off x="3147804" y="1541410"/>
            <a:ext cx="4129547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2.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Các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yêu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cầu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năng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47" name="Google Shape;2620;p38">
            <a:extLst>
              <a:ext uri="{FF2B5EF4-FFF2-40B4-BE49-F238E27FC236}">
                <a16:creationId xmlns:a16="http://schemas.microsoft.com/office/drawing/2014/main" id="{D5A51D3C-E8BF-09E6-0B6F-B2E914DBC6A7}"/>
              </a:ext>
            </a:extLst>
          </p:cNvPr>
          <p:cNvSpPr/>
          <p:nvPr/>
        </p:nvSpPr>
        <p:spPr>
          <a:xfrm>
            <a:off x="7510037" y="2913702"/>
            <a:ext cx="407964" cy="40317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49" name="Google Shape;2622;p38">
            <a:extLst>
              <a:ext uri="{FF2B5EF4-FFF2-40B4-BE49-F238E27FC236}">
                <a16:creationId xmlns:a16="http://schemas.microsoft.com/office/drawing/2014/main" id="{5A7598BB-3B99-5233-2851-DA1CE542E97C}"/>
              </a:ext>
            </a:extLst>
          </p:cNvPr>
          <p:cNvCxnSpPr>
            <a:cxnSpLocks/>
          </p:cNvCxnSpPr>
          <p:nvPr/>
        </p:nvCxnSpPr>
        <p:spPr>
          <a:xfrm>
            <a:off x="5723195" y="2694791"/>
            <a:ext cx="1617470" cy="298033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0" name="Google Shape;2623;p38">
            <a:extLst>
              <a:ext uri="{FF2B5EF4-FFF2-40B4-BE49-F238E27FC236}">
                <a16:creationId xmlns:a16="http://schemas.microsoft.com/office/drawing/2014/main" id="{D078C341-FD13-640B-A6C1-4B3D9E99DE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0263" y="2615669"/>
            <a:ext cx="1736186" cy="300914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1" name="Google Shape;2605;p38">
            <a:extLst>
              <a:ext uri="{FF2B5EF4-FFF2-40B4-BE49-F238E27FC236}">
                <a16:creationId xmlns:a16="http://schemas.microsoft.com/office/drawing/2014/main" id="{594156D3-F8FE-EF68-80B2-43E3B3D97EEE}"/>
              </a:ext>
            </a:extLst>
          </p:cNvPr>
          <p:cNvSpPr txBox="1"/>
          <p:nvPr/>
        </p:nvSpPr>
        <p:spPr>
          <a:xfrm>
            <a:off x="5777546" y="2519086"/>
            <a:ext cx="2348711" cy="3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Quản trị viên</a:t>
            </a:r>
            <a:endParaRPr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77" name="Google Shape;2621;p38">
            <a:extLst>
              <a:ext uri="{FF2B5EF4-FFF2-40B4-BE49-F238E27FC236}">
                <a16:creationId xmlns:a16="http://schemas.microsoft.com/office/drawing/2014/main" id="{7BD0A880-7CDF-B492-65A2-7312F85C2EE5}"/>
              </a:ext>
            </a:extLst>
          </p:cNvPr>
          <p:cNvSpPr/>
          <p:nvPr/>
        </p:nvSpPr>
        <p:spPr>
          <a:xfrm>
            <a:off x="6747920" y="2029187"/>
            <a:ext cx="407964" cy="403171"/>
          </a:xfrm>
          <a:prstGeom prst="ellips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9" name="Google Shape;3771;p39">
            <a:extLst>
              <a:ext uri="{FF2B5EF4-FFF2-40B4-BE49-F238E27FC236}">
                <a16:creationId xmlns:a16="http://schemas.microsoft.com/office/drawing/2014/main" id="{A789AD6B-A073-61B5-5217-8FA7746CA2DD}"/>
              </a:ext>
            </a:extLst>
          </p:cNvPr>
          <p:cNvSpPr txBox="1">
            <a:spLocks/>
          </p:cNvSpPr>
          <p:nvPr/>
        </p:nvSpPr>
        <p:spPr>
          <a:xfrm>
            <a:off x="3300038" y="2750450"/>
            <a:ext cx="3505515" cy="3770066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(ADMIN/STAFF)</a:t>
            </a: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tuyến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điểm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dừng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xe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loại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xe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ghế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ngồi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chuyến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xe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gen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lịch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35222-4F31-B88A-2C99-577EFC509B60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7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B94DD-D4F0-A03A-9CDE-3EB3124A8F34}"/>
              </a:ext>
            </a:extLst>
          </p:cNvPr>
          <p:cNvSpPr txBox="1"/>
          <p:nvPr/>
        </p:nvSpPr>
        <p:spPr>
          <a:xfrm>
            <a:off x="7592020" y="2677779"/>
            <a:ext cx="4523780" cy="170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khách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khuyến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mãi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Quản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tin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tức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hỏi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đáp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chat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khách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hàng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ts val="1200"/>
              <a:buFont typeface="Wingdings" panose="05000000000000000000" pitchFamily="2" charset="2"/>
              <a:buChar char="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Báo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cáo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xuất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1614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51" grpId="0"/>
      <p:bldP spid="10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541638" y="307122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oudy Old Style (Headings)"/>
                <a:ea typeface="Roboto" panose="02000000000000000000" pitchFamily="2" charset="0"/>
                <a:sym typeface="Fira Sans Extra Condensed SemiBold"/>
              </a:rPr>
              <a:t>PHÂN TÍCH THIẾT KẾ HỆ THỐNG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104F823-46FC-4282-9529-837755431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0516" y="313157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Google Shape;472;p19">
            <a:extLst>
              <a:ext uri="{FF2B5EF4-FFF2-40B4-BE49-F238E27FC236}">
                <a16:creationId xmlns:a16="http://schemas.microsoft.com/office/drawing/2014/main" id="{FE79ADA3-84F8-DC8F-FB35-790A465BD7D3}"/>
              </a:ext>
            </a:extLst>
          </p:cNvPr>
          <p:cNvSpPr txBox="1"/>
          <p:nvPr/>
        </p:nvSpPr>
        <p:spPr>
          <a:xfrm>
            <a:off x="471949" y="1271651"/>
            <a:ext cx="3439086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3.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Sơ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đồ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ERD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57687-8262-86FC-5F02-87369D5A6D22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8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440C41-A135-3E06-9020-961D6555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37" y="1899302"/>
            <a:ext cx="9559636" cy="477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29289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oudy Old Style (Headings)"/>
                <a:ea typeface="Roboto" panose="02000000000000000000" pitchFamily="2" charset="0"/>
                <a:sym typeface="Fira Sans Extra Condensed SemiBold"/>
              </a:rPr>
              <a:t>C</a:t>
            </a:r>
            <a:r>
              <a:rPr lang="en-US" sz="3600" kern="0" dirty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ÔNG NGHỆ SỬ DỤNG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104F823-46FC-4282-9529-837755431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30787" y="328985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Google Shape;3885;p44">
            <a:extLst>
              <a:ext uri="{FF2B5EF4-FFF2-40B4-BE49-F238E27FC236}">
                <a16:creationId xmlns:a16="http://schemas.microsoft.com/office/drawing/2014/main" id="{E5C7284C-6FB9-CDAC-814B-E4E3B948D670}"/>
              </a:ext>
            </a:extLst>
          </p:cNvPr>
          <p:cNvSpPr txBox="1">
            <a:spLocks/>
          </p:cNvSpPr>
          <p:nvPr/>
        </p:nvSpPr>
        <p:spPr>
          <a:xfrm>
            <a:off x="4411767" y="2887002"/>
            <a:ext cx="3368466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600" kern="0" dirty="0">
                <a:latin typeface="Roboto" panose="02000000000000000000" pitchFamily="2" charset="0"/>
                <a:ea typeface="Roboto" panose="02000000000000000000" pitchFamily="2" charset="0"/>
              </a:rPr>
              <a:t>Java 17, Spring Boot 3</a:t>
            </a:r>
          </a:p>
          <a:p>
            <a:pPr marL="0" indent="0"/>
            <a:r>
              <a:rPr lang="en-US" sz="1600" kern="0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n-US" sz="1600" kern="0" dirty="0" err="1">
                <a:latin typeface="Roboto" panose="02000000000000000000" pitchFamily="2" charset="0"/>
                <a:ea typeface="Roboto" panose="02000000000000000000" pitchFamily="2" charset="0"/>
              </a:rPr>
              <a:t>MyBatis</a:t>
            </a:r>
            <a:r>
              <a:rPr lang="en-US" sz="1600" kern="0" dirty="0">
                <a:latin typeface="Roboto" panose="02000000000000000000" pitchFamily="2" charset="0"/>
                <a:ea typeface="Roboto" panose="02000000000000000000" pitchFamily="2" charset="0"/>
              </a:rPr>
              <a:t>, JWT Security)</a:t>
            </a:r>
          </a:p>
        </p:txBody>
      </p:sp>
      <p:sp>
        <p:nvSpPr>
          <p:cNvPr id="35" name="Google Shape;3887;p44">
            <a:extLst>
              <a:ext uri="{FF2B5EF4-FFF2-40B4-BE49-F238E27FC236}">
                <a16:creationId xmlns:a16="http://schemas.microsoft.com/office/drawing/2014/main" id="{37980FCE-D735-713E-15BC-EB18ED535B3F}"/>
              </a:ext>
            </a:extLst>
          </p:cNvPr>
          <p:cNvSpPr txBox="1">
            <a:spLocks/>
          </p:cNvSpPr>
          <p:nvPr/>
        </p:nvSpPr>
        <p:spPr>
          <a:xfrm>
            <a:off x="915037" y="2887002"/>
            <a:ext cx="23055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fr-FR" sz="1600" kern="0" dirty="0" err="1">
                <a:latin typeface="Roboto" panose="02000000000000000000" pitchFamily="2" charset="0"/>
                <a:ea typeface="Roboto" panose="02000000000000000000" pitchFamily="2" charset="0"/>
              </a:rPr>
              <a:t>React</a:t>
            </a:r>
            <a:r>
              <a:rPr lang="fr-FR" sz="1600" kern="0" dirty="0">
                <a:latin typeface="Roboto" panose="02000000000000000000" pitchFamily="2" charset="0"/>
                <a:ea typeface="Roboto" panose="02000000000000000000" pitchFamily="2" charset="0"/>
              </a:rPr>
              <a:t> 19, </a:t>
            </a:r>
            <a:r>
              <a:rPr lang="fr-FR" sz="1600" kern="0" dirty="0" err="1">
                <a:latin typeface="Roboto" panose="02000000000000000000" pitchFamily="2" charset="0"/>
                <a:ea typeface="Roboto" panose="02000000000000000000" pitchFamily="2" charset="0"/>
              </a:rPr>
              <a:t>TypeScript</a:t>
            </a:r>
            <a:r>
              <a:rPr lang="fr-FR" sz="1600" kern="0" dirty="0">
                <a:latin typeface="Roboto" panose="02000000000000000000" pitchFamily="2" charset="0"/>
                <a:ea typeface="Roboto" panose="02000000000000000000" pitchFamily="2" charset="0"/>
              </a:rPr>
              <a:t>, Vite</a:t>
            </a:r>
          </a:p>
          <a:p>
            <a:pPr marL="0" indent="0"/>
            <a:r>
              <a:rPr lang="fr-FR" sz="1600" kern="0" dirty="0">
                <a:latin typeface="Roboto" panose="02000000000000000000" pitchFamily="2" charset="0"/>
                <a:ea typeface="Roboto" panose="02000000000000000000" pitchFamily="2" charset="0"/>
              </a:rPr>
              <a:t>(VS Code)</a:t>
            </a:r>
            <a:endParaRPr lang="en-US" sz="1600" kern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" name="Google Shape;3890;p44">
            <a:extLst>
              <a:ext uri="{FF2B5EF4-FFF2-40B4-BE49-F238E27FC236}">
                <a16:creationId xmlns:a16="http://schemas.microsoft.com/office/drawing/2014/main" id="{EEA12FF9-9393-C9E9-BEDE-65682B8E0FE6}"/>
              </a:ext>
            </a:extLst>
          </p:cNvPr>
          <p:cNvSpPr txBox="1">
            <a:spLocks/>
          </p:cNvSpPr>
          <p:nvPr/>
        </p:nvSpPr>
        <p:spPr>
          <a:xfrm>
            <a:off x="4947568" y="2550083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kern="0">
                <a:latin typeface="Roboto" panose="02000000000000000000" pitchFamily="2" charset="0"/>
                <a:ea typeface="Roboto" panose="02000000000000000000" pitchFamily="2" charset="0"/>
              </a:rPr>
              <a:t>Back-end</a:t>
            </a:r>
            <a:endParaRPr lang="en-US" kern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" name="Google Shape;3891;p44">
            <a:extLst>
              <a:ext uri="{FF2B5EF4-FFF2-40B4-BE49-F238E27FC236}">
                <a16:creationId xmlns:a16="http://schemas.microsoft.com/office/drawing/2014/main" id="{91037881-5130-46B1-A3A2-BE1114CC7604}"/>
              </a:ext>
            </a:extLst>
          </p:cNvPr>
          <p:cNvSpPr txBox="1">
            <a:spLocks/>
          </p:cNvSpPr>
          <p:nvPr/>
        </p:nvSpPr>
        <p:spPr>
          <a:xfrm>
            <a:off x="915037" y="2553851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kern="0">
                <a:latin typeface="Roboto" panose="02000000000000000000" pitchFamily="2" charset="0"/>
                <a:ea typeface="Roboto" panose="02000000000000000000" pitchFamily="2" charset="0"/>
              </a:rPr>
              <a:t>Front-end</a:t>
            </a:r>
            <a:endParaRPr lang="en-US" kern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" name="Google Shape;3896;p44">
            <a:extLst>
              <a:ext uri="{FF2B5EF4-FFF2-40B4-BE49-F238E27FC236}">
                <a16:creationId xmlns:a16="http://schemas.microsoft.com/office/drawing/2014/main" id="{F59DD974-3FFB-A634-8B3D-145599DA625D}"/>
              </a:ext>
            </a:extLst>
          </p:cNvPr>
          <p:cNvSpPr/>
          <p:nvPr/>
        </p:nvSpPr>
        <p:spPr>
          <a:xfrm>
            <a:off x="5730787" y="1816142"/>
            <a:ext cx="739061" cy="695840"/>
          </a:xfrm>
          <a:custGeom>
            <a:avLst/>
            <a:gdLst/>
            <a:ahLst/>
            <a:cxnLst/>
            <a:rect l="l" t="t" r="r" b="b"/>
            <a:pathLst>
              <a:path w="15121" h="16286" extrusionOk="0">
                <a:moveTo>
                  <a:pt x="7362" y="0"/>
                </a:moveTo>
                <a:cubicBezTo>
                  <a:pt x="4117" y="0"/>
                  <a:pt x="1309" y="3181"/>
                  <a:pt x="703" y="6424"/>
                </a:cubicBezTo>
                <a:cubicBezTo>
                  <a:pt x="0" y="10111"/>
                  <a:pt x="2519" y="13922"/>
                  <a:pt x="5793" y="15490"/>
                </a:cubicBezTo>
                <a:cubicBezTo>
                  <a:pt x="6775" y="15959"/>
                  <a:pt x="7905" y="16286"/>
                  <a:pt x="9021" y="16286"/>
                </a:cubicBezTo>
                <a:cubicBezTo>
                  <a:pt x="9671" y="16286"/>
                  <a:pt x="10316" y="16175"/>
                  <a:pt x="10924" y="15917"/>
                </a:cubicBezTo>
                <a:cubicBezTo>
                  <a:pt x="12589" y="15215"/>
                  <a:pt x="14185" y="13441"/>
                  <a:pt x="14556" y="11638"/>
                </a:cubicBezTo>
                <a:cubicBezTo>
                  <a:pt x="15121" y="8914"/>
                  <a:pt x="14350" y="5021"/>
                  <a:pt x="12259" y="2750"/>
                </a:cubicBezTo>
                <a:cubicBezTo>
                  <a:pt x="11599" y="1884"/>
                  <a:pt x="10786" y="1127"/>
                  <a:pt x="9823" y="631"/>
                </a:cubicBezTo>
                <a:cubicBezTo>
                  <a:pt x="8994" y="195"/>
                  <a:pt x="8165" y="0"/>
                  <a:pt x="7362" y="0"/>
                </a:cubicBezTo>
                <a:close/>
              </a:path>
            </a:pathLst>
          </a:custGeom>
          <a:solidFill>
            <a:srgbClr val="306DA1">
              <a:lumMod val="20000"/>
              <a:lumOff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3897;p44">
            <a:extLst>
              <a:ext uri="{FF2B5EF4-FFF2-40B4-BE49-F238E27FC236}">
                <a16:creationId xmlns:a16="http://schemas.microsoft.com/office/drawing/2014/main" id="{EB927171-D269-67E0-9886-75990D801B80}"/>
              </a:ext>
            </a:extLst>
          </p:cNvPr>
          <p:cNvSpPr/>
          <p:nvPr/>
        </p:nvSpPr>
        <p:spPr>
          <a:xfrm>
            <a:off x="1685687" y="1766988"/>
            <a:ext cx="739062" cy="710662"/>
          </a:xfrm>
          <a:custGeom>
            <a:avLst/>
            <a:gdLst/>
            <a:ahLst/>
            <a:cxnLst/>
            <a:rect l="l" t="t" r="r" b="b"/>
            <a:pathLst>
              <a:path w="15121" h="16286" extrusionOk="0">
                <a:moveTo>
                  <a:pt x="7362" y="0"/>
                </a:moveTo>
                <a:cubicBezTo>
                  <a:pt x="4117" y="0"/>
                  <a:pt x="1309" y="3181"/>
                  <a:pt x="703" y="6424"/>
                </a:cubicBezTo>
                <a:cubicBezTo>
                  <a:pt x="0" y="10111"/>
                  <a:pt x="2519" y="13922"/>
                  <a:pt x="5793" y="15490"/>
                </a:cubicBezTo>
                <a:cubicBezTo>
                  <a:pt x="6775" y="15959"/>
                  <a:pt x="7905" y="16286"/>
                  <a:pt x="9021" y="16286"/>
                </a:cubicBezTo>
                <a:cubicBezTo>
                  <a:pt x="9671" y="16286"/>
                  <a:pt x="10316" y="16175"/>
                  <a:pt x="10924" y="15917"/>
                </a:cubicBezTo>
                <a:cubicBezTo>
                  <a:pt x="12589" y="15215"/>
                  <a:pt x="14185" y="13441"/>
                  <a:pt x="14556" y="11638"/>
                </a:cubicBezTo>
                <a:cubicBezTo>
                  <a:pt x="15121" y="8914"/>
                  <a:pt x="14350" y="5021"/>
                  <a:pt x="12259" y="2750"/>
                </a:cubicBezTo>
                <a:cubicBezTo>
                  <a:pt x="11599" y="1884"/>
                  <a:pt x="10786" y="1127"/>
                  <a:pt x="9823" y="631"/>
                </a:cubicBezTo>
                <a:cubicBezTo>
                  <a:pt x="8994" y="195"/>
                  <a:pt x="8165" y="0"/>
                  <a:pt x="7362" y="0"/>
                </a:cubicBezTo>
                <a:close/>
              </a:path>
            </a:pathLst>
          </a:custGeom>
          <a:solidFill>
            <a:srgbClr val="306DA1">
              <a:lumMod val="20000"/>
              <a:lumOff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3902;p44">
            <a:extLst>
              <a:ext uri="{FF2B5EF4-FFF2-40B4-BE49-F238E27FC236}">
                <a16:creationId xmlns:a16="http://schemas.microsoft.com/office/drawing/2014/main" id="{90368D2E-EBC1-3894-64B4-1CB70FF18BFB}"/>
              </a:ext>
            </a:extLst>
          </p:cNvPr>
          <p:cNvSpPr/>
          <p:nvPr/>
        </p:nvSpPr>
        <p:spPr>
          <a:xfrm>
            <a:off x="5981437" y="1990012"/>
            <a:ext cx="351286" cy="349457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1" name="Google Shape;3913;p44">
            <a:extLst>
              <a:ext uri="{FF2B5EF4-FFF2-40B4-BE49-F238E27FC236}">
                <a16:creationId xmlns:a16="http://schemas.microsoft.com/office/drawing/2014/main" id="{812B749C-F9D6-377F-34AE-D8FB69D8AC05}"/>
              </a:ext>
            </a:extLst>
          </p:cNvPr>
          <p:cNvGrpSpPr/>
          <p:nvPr/>
        </p:nvGrpSpPr>
        <p:grpSpPr>
          <a:xfrm>
            <a:off x="1891654" y="1978848"/>
            <a:ext cx="349457" cy="349457"/>
            <a:chOff x="3963575" y="2317575"/>
            <a:chExt cx="296175" cy="296175"/>
          </a:xfrm>
        </p:grpSpPr>
        <p:sp>
          <p:nvSpPr>
            <p:cNvPr id="42" name="Google Shape;3914;p44">
              <a:extLst>
                <a:ext uri="{FF2B5EF4-FFF2-40B4-BE49-F238E27FC236}">
                  <a16:creationId xmlns:a16="http://schemas.microsoft.com/office/drawing/2014/main" id="{829D0172-F7F8-4374-8CFA-E11C588C0E8D}"/>
                </a:ext>
              </a:extLst>
            </p:cNvPr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3915;p44">
              <a:extLst>
                <a:ext uri="{FF2B5EF4-FFF2-40B4-BE49-F238E27FC236}">
                  <a16:creationId xmlns:a16="http://schemas.microsoft.com/office/drawing/2014/main" id="{3A244FAC-A787-DF02-0553-4693FA35B029}"/>
                </a:ext>
              </a:extLst>
            </p:cNvPr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916;p44">
              <a:extLst>
                <a:ext uri="{FF2B5EF4-FFF2-40B4-BE49-F238E27FC236}">
                  <a16:creationId xmlns:a16="http://schemas.microsoft.com/office/drawing/2014/main" id="{54BEC3EA-B40F-D3C1-1AA1-C257377C3D2D}"/>
                </a:ext>
              </a:extLst>
            </p:cNvPr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3917;p44">
              <a:extLst>
                <a:ext uri="{FF2B5EF4-FFF2-40B4-BE49-F238E27FC236}">
                  <a16:creationId xmlns:a16="http://schemas.microsoft.com/office/drawing/2014/main" id="{3E935A8C-1917-DF6A-7FD5-BF01121D8873}"/>
                </a:ext>
              </a:extLst>
            </p:cNvPr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3918;p44">
              <a:extLst>
                <a:ext uri="{FF2B5EF4-FFF2-40B4-BE49-F238E27FC236}">
                  <a16:creationId xmlns:a16="http://schemas.microsoft.com/office/drawing/2014/main" id="{1B23845B-2C5A-B1E2-F927-61E6ECFEBBCC}"/>
                </a:ext>
              </a:extLst>
            </p:cNvPr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3919;p44">
              <a:extLst>
                <a:ext uri="{FF2B5EF4-FFF2-40B4-BE49-F238E27FC236}">
                  <a16:creationId xmlns:a16="http://schemas.microsoft.com/office/drawing/2014/main" id="{FA63CC9D-70A4-300B-C09B-EB0F8B5F3656}"/>
                </a:ext>
              </a:extLst>
            </p:cNvPr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3920;p44">
              <a:extLst>
                <a:ext uri="{FF2B5EF4-FFF2-40B4-BE49-F238E27FC236}">
                  <a16:creationId xmlns:a16="http://schemas.microsoft.com/office/drawing/2014/main" id="{8B340422-8599-E8D4-4FF1-6C50D1C3ED2B}"/>
                </a:ext>
              </a:extLst>
            </p:cNvPr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3921;p44">
              <a:extLst>
                <a:ext uri="{FF2B5EF4-FFF2-40B4-BE49-F238E27FC236}">
                  <a16:creationId xmlns:a16="http://schemas.microsoft.com/office/drawing/2014/main" id="{3DB4C58C-0EC6-ABF8-7937-DD789918A5B5}"/>
                </a:ext>
              </a:extLst>
            </p:cNvPr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3922;p44">
              <a:extLst>
                <a:ext uri="{FF2B5EF4-FFF2-40B4-BE49-F238E27FC236}">
                  <a16:creationId xmlns:a16="http://schemas.microsoft.com/office/drawing/2014/main" id="{6AC5485E-1EBF-7208-13A4-AC956D6FD1D2}"/>
                </a:ext>
              </a:extLst>
            </p:cNvPr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3923;p44">
              <a:extLst>
                <a:ext uri="{FF2B5EF4-FFF2-40B4-BE49-F238E27FC236}">
                  <a16:creationId xmlns:a16="http://schemas.microsoft.com/office/drawing/2014/main" id="{727DEF65-B3F9-4332-BB54-23A2244C4B35}"/>
                </a:ext>
              </a:extLst>
            </p:cNvPr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3924;p44">
              <a:extLst>
                <a:ext uri="{FF2B5EF4-FFF2-40B4-BE49-F238E27FC236}">
                  <a16:creationId xmlns:a16="http://schemas.microsoft.com/office/drawing/2014/main" id="{A9B1DEF1-D5B3-7812-FF8F-C696D0C22383}"/>
                </a:ext>
              </a:extLst>
            </p:cNvPr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3925;p44">
              <a:extLst>
                <a:ext uri="{FF2B5EF4-FFF2-40B4-BE49-F238E27FC236}">
                  <a16:creationId xmlns:a16="http://schemas.microsoft.com/office/drawing/2014/main" id="{20C7A26F-5EB7-E575-B100-48AACB49D738}"/>
                </a:ext>
              </a:extLst>
            </p:cNvPr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3926;p44">
              <a:extLst>
                <a:ext uri="{FF2B5EF4-FFF2-40B4-BE49-F238E27FC236}">
                  <a16:creationId xmlns:a16="http://schemas.microsoft.com/office/drawing/2014/main" id="{5AD35658-B28F-2566-1769-89EA9B1D5267}"/>
                </a:ext>
              </a:extLst>
            </p:cNvPr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3927;p44">
              <a:extLst>
                <a:ext uri="{FF2B5EF4-FFF2-40B4-BE49-F238E27FC236}">
                  <a16:creationId xmlns:a16="http://schemas.microsoft.com/office/drawing/2014/main" id="{C371B91A-45A8-3395-AE9F-1A6EBCD9A9D2}"/>
                </a:ext>
              </a:extLst>
            </p:cNvPr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3928;p44">
              <a:extLst>
                <a:ext uri="{FF2B5EF4-FFF2-40B4-BE49-F238E27FC236}">
                  <a16:creationId xmlns:a16="http://schemas.microsoft.com/office/drawing/2014/main" id="{D5F2B1E0-9EDB-3EF9-D7C5-DDAE9D580D46}"/>
                </a:ext>
              </a:extLst>
            </p:cNvPr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3929;p44">
              <a:extLst>
                <a:ext uri="{FF2B5EF4-FFF2-40B4-BE49-F238E27FC236}">
                  <a16:creationId xmlns:a16="http://schemas.microsoft.com/office/drawing/2014/main" id="{3F3BDDEE-B820-A771-B301-A890EEB15AA3}"/>
                </a:ext>
              </a:extLst>
            </p:cNvPr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3891;p44">
            <a:extLst>
              <a:ext uri="{FF2B5EF4-FFF2-40B4-BE49-F238E27FC236}">
                <a16:creationId xmlns:a16="http://schemas.microsoft.com/office/drawing/2014/main" id="{008ABDB3-3C4A-4D61-1FFD-0CFA9EE090C5}"/>
              </a:ext>
            </a:extLst>
          </p:cNvPr>
          <p:cNvSpPr txBox="1">
            <a:spLocks/>
          </p:cNvSpPr>
          <p:nvPr/>
        </p:nvSpPr>
        <p:spPr>
          <a:xfrm>
            <a:off x="8971463" y="2477650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vi-VN" kern="0" dirty="0">
                <a:latin typeface="Roboto" panose="02000000000000000000" pitchFamily="2" charset="0"/>
                <a:ea typeface="Roboto" panose="02000000000000000000" pitchFamily="2" charset="0"/>
              </a:rPr>
              <a:t>Cơ sở dữ liệu</a:t>
            </a:r>
          </a:p>
        </p:txBody>
      </p:sp>
      <p:sp>
        <p:nvSpPr>
          <p:cNvPr id="3076" name="Google Shape;3896;p44">
            <a:extLst>
              <a:ext uri="{FF2B5EF4-FFF2-40B4-BE49-F238E27FC236}">
                <a16:creationId xmlns:a16="http://schemas.microsoft.com/office/drawing/2014/main" id="{BBC60846-C789-57A3-1963-A707FEC7E514}"/>
              </a:ext>
            </a:extLst>
          </p:cNvPr>
          <p:cNvSpPr/>
          <p:nvPr/>
        </p:nvSpPr>
        <p:spPr>
          <a:xfrm>
            <a:off x="9805605" y="1753608"/>
            <a:ext cx="739061" cy="695840"/>
          </a:xfrm>
          <a:custGeom>
            <a:avLst/>
            <a:gdLst/>
            <a:ahLst/>
            <a:cxnLst/>
            <a:rect l="l" t="t" r="r" b="b"/>
            <a:pathLst>
              <a:path w="15121" h="16286" extrusionOk="0">
                <a:moveTo>
                  <a:pt x="7362" y="0"/>
                </a:moveTo>
                <a:cubicBezTo>
                  <a:pt x="4117" y="0"/>
                  <a:pt x="1309" y="3181"/>
                  <a:pt x="703" y="6424"/>
                </a:cubicBezTo>
                <a:cubicBezTo>
                  <a:pt x="0" y="10111"/>
                  <a:pt x="2519" y="13922"/>
                  <a:pt x="5793" y="15490"/>
                </a:cubicBezTo>
                <a:cubicBezTo>
                  <a:pt x="6775" y="15959"/>
                  <a:pt x="7905" y="16286"/>
                  <a:pt x="9021" y="16286"/>
                </a:cubicBezTo>
                <a:cubicBezTo>
                  <a:pt x="9671" y="16286"/>
                  <a:pt x="10316" y="16175"/>
                  <a:pt x="10924" y="15917"/>
                </a:cubicBezTo>
                <a:cubicBezTo>
                  <a:pt x="12589" y="15215"/>
                  <a:pt x="14185" y="13441"/>
                  <a:pt x="14556" y="11638"/>
                </a:cubicBezTo>
                <a:cubicBezTo>
                  <a:pt x="15121" y="8914"/>
                  <a:pt x="14350" y="5021"/>
                  <a:pt x="12259" y="2750"/>
                </a:cubicBezTo>
                <a:cubicBezTo>
                  <a:pt x="11599" y="1884"/>
                  <a:pt x="10786" y="1127"/>
                  <a:pt x="9823" y="631"/>
                </a:cubicBezTo>
                <a:cubicBezTo>
                  <a:pt x="8994" y="195"/>
                  <a:pt x="8165" y="0"/>
                  <a:pt x="7362" y="0"/>
                </a:cubicBezTo>
                <a:close/>
              </a:path>
            </a:pathLst>
          </a:custGeom>
          <a:solidFill>
            <a:srgbClr val="306DA1">
              <a:lumMod val="20000"/>
              <a:lumOff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078" name="Picture 3077">
            <a:extLst>
              <a:ext uri="{FF2B5EF4-FFF2-40B4-BE49-F238E27FC236}">
                <a16:creationId xmlns:a16="http://schemas.microsoft.com/office/drawing/2014/main" id="{649DA9D6-EB7B-CE35-44D3-34505FD48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389" y="1978848"/>
            <a:ext cx="357492" cy="357492"/>
          </a:xfrm>
          <a:prstGeom prst="rect">
            <a:avLst/>
          </a:prstGeom>
        </p:spPr>
      </p:pic>
      <p:sp>
        <p:nvSpPr>
          <p:cNvPr id="3079" name="Google Shape;3885;p44">
            <a:extLst>
              <a:ext uri="{FF2B5EF4-FFF2-40B4-BE49-F238E27FC236}">
                <a16:creationId xmlns:a16="http://schemas.microsoft.com/office/drawing/2014/main" id="{A1F79FB4-77E7-12CD-5A27-08812C09A752}"/>
              </a:ext>
            </a:extLst>
          </p:cNvPr>
          <p:cNvSpPr txBox="1">
            <a:spLocks/>
          </p:cNvSpPr>
          <p:nvPr/>
        </p:nvSpPr>
        <p:spPr>
          <a:xfrm>
            <a:off x="8439980" y="2823956"/>
            <a:ext cx="3368466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600" kern="0" dirty="0">
                <a:latin typeface="Roboto" panose="02000000000000000000" pitchFamily="2" charset="0"/>
                <a:ea typeface="Roboto" panose="02000000000000000000" pitchFamily="2" charset="0"/>
              </a:rPr>
              <a:t>MySQL</a:t>
            </a:r>
          </a:p>
          <a:p>
            <a:pPr marL="0" indent="0"/>
            <a:r>
              <a:rPr lang="en-US" sz="1600" kern="0" dirty="0">
                <a:latin typeface="Roboto" panose="02000000000000000000" pitchFamily="2" charset="0"/>
                <a:ea typeface="Roboto" panose="02000000000000000000" pitchFamily="2" charset="0"/>
              </a:rPr>
              <a:t>(Workbench)</a:t>
            </a:r>
          </a:p>
        </p:txBody>
      </p:sp>
      <p:sp>
        <p:nvSpPr>
          <p:cNvPr id="3081" name="AutoShape 2" descr="Mongodb Icon Vector Logo - Download Free SVG Icon | Worldvectorlogo">
            <a:extLst>
              <a:ext uri="{FF2B5EF4-FFF2-40B4-BE49-F238E27FC236}">
                <a16:creationId xmlns:a16="http://schemas.microsoft.com/office/drawing/2014/main" id="{5EED6862-D6A3-0D83-288B-A9A8A8A77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19063" y="37686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4" name="TextBox 3083">
            <a:extLst>
              <a:ext uri="{FF2B5EF4-FFF2-40B4-BE49-F238E27FC236}">
                <a16:creationId xmlns:a16="http://schemas.microsoft.com/office/drawing/2014/main" id="{A6F753BD-3A43-1B32-9F16-CA6332F300AA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9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1026" name="Picture 2" descr="MySQL Architecture and History">
            <a:extLst>
              <a:ext uri="{FF2B5EF4-FFF2-40B4-BE49-F238E27FC236}">
                <a16:creationId xmlns:a16="http://schemas.microsoft.com/office/drawing/2014/main" id="{7F960C7D-F93A-CB4B-6D67-63867B6E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79" y="3837381"/>
            <a:ext cx="1561668" cy="96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's new in Spring Boot 3.0. I know it has been a while since the… | by Norbert Nowak | Medium">
            <a:extLst>
              <a:ext uri="{FF2B5EF4-FFF2-40B4-BE49-F238E27FC236}">
                <a16:creationId xmlns:a16="http://schemas.microsoft.com/office/drawing/2014/main" id="{2A991778-C1EB-28CB-1A3D-F51B2A1D1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499" y="3837381"/>
            <a:ext cx="1861705" cy="96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17 Unveiled: Exploring the Latest Features and Improvements - NashTech Blog">
            <a:extLst>
              <a:ext uri="{FF2B5EF4-FFF2-40B4-BE49-F238E27FC236}">
                <a16:creationId xmlns:a16="http://schemas.microsoft.com/office/drawing/2014/main" id="{0E64EA5F-0592-E562-11D5-DC4C3A36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248" y="3837381"/>
            <a:ext cx="1716752" cy="96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Simple React App with Vite, TypeScript, Linting &amp; Formatting | by Kirill  Karpov | Medium">
            <a:extLst>
              <a:ext uri="{FF2B5EF4-FFF2-40B4-BE49-F238E27FC236}">
                <a16:creationId xmlns:a16="http://schemas.microsoft.com/office/drawing/2014/main" id="{62107E58-4A11-1866-271A-240751841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73" y="3829603"/>
            <a:ext cx="2757055" cy="97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438746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4" grpId="0"/>
      <p:bldP spid="35" grpId="0"/>
      <p:bldP spid="36" grpId="0"/>
      <p:bldP spid="37" grpId="0"/>
      <p:bldP spid="24" grpId="0"/>
      <p:bldP spid="30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lang="vi-VN" sz="3600" kern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XÂY DỰNG CHƯƠNG TRÌNH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3" name="Google Shape;472;p19">
            <a:extLst>
              <a:ext uri="{FF2B5EF4-FFF2-40B4-BE49-F238E27FC236}">
                <a16:creationId xmlns:a16="http://schemas.microsoft.com/office/drawing/2014/main" id="{9966D7B0-5E5E-E3E1-ABEC-5C40CD47BB18}"/>
              </a:ext>
            </a:extLst>
          </p:cNvPr>
          <p:cNvSpPr txBox="1"/>
          <p:nvPr/>
        </p:nvSpPr>
        <p:spPr>
          <a:xfrm>
            <a:off x="471948" y="1271651"/>
            <a:ext cx="4768645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 năng Tìm kiếm chuyến xe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AD356-57B5-83C0-B9CC-43E119639053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10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54E824-2540-DBB5-4868-DA68411BA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696" y="1838469"/>
            <a:ext cx="9732068" cy="46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77760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lang="vi-VN" sz="3600" kern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XÂY DỰNG CHƯƠNG TRÌNH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3" name="Google Shape;472;p19">
            <a:extLst>
              <a:ext uri="{FF2B5EF4-FFF2-40B4-BE49-F238E27FC236}">
                <a16:creationId xmlns:a16="http://schemas.microsoft.com/office/drawing/2014/main" id="{9966D7B0-5E5E-E3E1-ABEC-5C40CD47BB18}"/>
              </a:ext>
            </a:extLst>
          </p:cNvPr>
          <p:cNvSpPr txBox="1"/>
          <p:nvPr/>
        </p:nvSpPr>
        <p:spPr>
          <a:xfrm>
            <a:off x="471948" y="1271651"/>
            <a:ext cx="4768645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năng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Vé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của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tôi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AE16A-3A40-3728-20DC-4CF949720AA8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11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01983-FFDE-2DF1-F11D-3D5F18C95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3" y="1912187"/>
            <a:ext cx="5761990" cy="2756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64548-459A-109E-DC46-9EEDE527B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558" y="4025005"/>
            <a:ext cx="5761990" cy="275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34940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lang="vi-VN" sz="3600" kern="0" dirty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XÂY DỰNG CHƯƠNG TRÌNH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3" name="Google Shape;472;p19">
            <a:extLst>
              <a:ext uri="{FF2B5EF4-FFF2-40B4-BE49-F238E27FC236}">
                <a16:creationId xmlns:a16="http://schemas.microsoft.com/office/drawing/2014/main" id="{9966D7B0-5E5E-E3E1-ABEC-5C40CD47BB18}"/>
              </a:ext>
            </a:extLst>
          </p:cNvPr>
          <p:cNvSpPr txBox="1"/>
          <p:nvPr/>
        </p:nvSpPr>
        <p:spPr>
          <a:xfrm>
            <a:off x="471948" y="1271651"/>
            <a:ext cx="4768645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năng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báo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cáo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và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thống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kê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6A797-850B-6212-D2DC-AD5952431824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12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5BA9A5-1BF7-247F-1EF7-BE85D7B82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32" y="1915362"/>
            <a:ext cx="9808268" cy="468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8243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lang="vi-VN" sz="3600" kern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XÂY DỰNG CHƯƠNG TRÌNH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3" name="Google Shape;472;p19">
            <a:extLst>
              <a:ext uri="{FF2B5EF4-FFF2-40B4-BE49-F238E27FC236}">
                <a16:creationId xmlns:a16="http://schemas.microsoft.com/office/drawing/2014/main" id="{9966D7B0-5E5E-E3E1-ABEC-5C40CD47BB18}"/>
              </a:ext>
            </a:extLst>
          </p:cNvPr>
          <p:cNvSpPr txBox="1"/>
          <p:nvPr/>
        </p:nvSpPr>
        <p:spPr>
          <a:xfrm>
            <a:off x="471948" y="1271651"/>
            <a:ext cx="600751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Các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chức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năng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Chat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hỗ</a:t>
            </a:r>
            <a:r>
              <a:rPr lang="en-US" sz="2400" kern="0" dirty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 </a:t>
            </a:r>
            <a:r>
              <a:rPr lang="en-US" sz="2400" kern="0" dirty="0" err="1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trợ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4FC3A-D3F3-3043-6B6B-25EF8B72EFF0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13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18A534-59B5-3EBB-E72C-98ED259A2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88" y="1896369"/>
            <a:ext cx="9939886" cy="478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87155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lang="en-US" sz="3600" kern="0" dirty="0">
                <a:solidFill>
                  <a:schemeClr val="tx1"/>
                </a:solidFill>
                <a:latin typeface="Goudy Old Style (Headings)"/>
                <a:ea typeface="Roboto" panose="02000000000000000000" pitchFamily="2" charset="0"/>
              </a:rPr>
              <a:t>KẾT LUẬN VÀ HƯỚNG PHÁT TRIỂN</a:t>
            </a:r>
            <a:endParaRPr kumimoji="0" lang="en-US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oudy Old Style (Headings)"/>
              <a:ea typeface="Roboto" panose="02000000000000000000" pitchFamily="2" charset="0"/>
              <a:sym typeface="Fira Sans Extra Condensed SemiBold"/>
            </a:endParaRPr>
          </a:p>
        </p:txBody>
      </p:sp>
      <p:sp>
        <p:nvSpPr>
          <p:cNvPr id="3" name="Google Shape;472;p19">
            <a:extLst>
              <a:ext uri="{FF2B5EF4-FFF2-40B4-BE49-F238E27FC236}">
                <a16:creationId xmlns:a16="http://schemas.microsoft.com/office/drawing/2014/main" id="{9966D7B0-5E5E-E3E1-ABEC-5C40CD47BB18}"/>
              </a:ext>
            </a:extLst>
          </p:cNvPr>
          <p:cNvSpPr txBox="1"/>
          <p:nvPr/>
        </p:nvSpPr>
        <p:spPr>
          <a:xfrm>
            <a:off x="471948" y="1271651"/>
            <a:ext cx="600751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-US" sz="2400" kern="0"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Tóm tắt kết quả</a:t>
            </a:r>
            <a:endParaRPr sz="2400" kern="0" dirty="0"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19" name="Google Shape;1914;p32">
            <a:extLst>
              <a:ext uri="{FF2B5EF4-FFF2-40B4-BE49-F238E27FC236}">
                <a16:creationId xmlns:a16="http://schemas.microsoft.com/office/drawing/2014/main" id="{34B866AB-4195-CCAC-D936-E6493C248946}"/>
              </a:ext>
            </a:extLst>
          </p:cNvPr>
          <p:cNvSpPr/>
          <p:nvPr/>
        </p:nvSpPr>
        <p:spPr>
          <a:xfrm>
            <a:off x="6603092" y="3152426"/>
            <a:ext cx="1997100" cy="1998000"/>
          </a:xfrm>
          <a:prstGeom prst="arc">
            <a:avLst>
              <a:gd name="adj1" fmla="val 16200000"/>
              <a:gd name="adj2" fmla="val 160302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0" name="Google Shape;1916;p32">
            <a:extLst>
              <a:ext uri="{FF2B5EF4-FFF2-40B4-BE49-F238E27FC236}">
                <a16:creationId xmlns:a16="http://schemas.microsoft.com/office/drawing/2014/main" id="{ADE9EC6F-59BE-08BF-6229-AB2F41A7CD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-537130" y="2583991"/>
            <a:ext cx="1809600" cy="7200"/>
          </a:xfrm>
          <a:prstGeom prst="bentConnector4">
            <a:avLst>
              <a:gd name="adj1" fmla="val 23214"/>
              <a:gd name="adj2" fmla="val 3408683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Google Shape;1918;p32">
            <a:extLst>
              <a:ext uri="{FF2B5EF4-FFF2-40B4-BE49-F238E27FC236}">
                <a16:creationId xmlns:a16="http://schemas.microsoft.com/office/drawing/2014/main" id="{0E3F1843-EE8E-2FA8-F0F9-9054AFA3FEE8}"/>
              </a:ext>
            </a:extLst>
          </p:cNvPr>
          <p:cNvSpPr txBox="1"/>
          <p:nvPr/>
        </p:nvSpPr>
        <p:spPr>
          <a:xfrm>
            <a:off x="1864206" y="2569618"/>
            <a:ext cx="171913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" b="1" kern="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Về ứng dụng </a:t>
            </a:r>
            <a:endParaRPr b="1" kern="0" dirty="0">
              <a:solidFill>
                <a:schemeClr val="accent5"/>
              </a:solidFill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22" name="Google Shape;1920;p32">
            <a:extLst>
              <a:ext uri="{FF2B5EF4-FFF2-40B4-BE49-F238E27FC236}">
                <a16:creationId xmlns:a16="http://schemas.microsoft.com/office/drawing/2014/main" id="{0ADC051F-4B1B-23D2-9A61-6C2D88CF510C}"/>
              </a:ext>
            </a:extLst>
          </p:cNvPr>
          <p:cNvSpPr txBox="1"/>
          <p:nvPr/>
        </p:nvSpPr>
        <p:spPr>
          <a:xfrm>
            <a:off x="1864206" y="4905522"/>
            <a:ext cx="2200517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buFont typeface="Arial"/>
              <a:buNone/>
            </a:pPr>
            <a:r>
              <a:rPr lang="en" b="1" kern="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 SemiBold"/>
                <a:sym typeface="Fira Sans Extra Condensed SemiBold"/>
              </a:rPr>
              <a:t>Hướng phát triển</a:t>
            </a:r>
            <a:endParaRPr b="1" kern="0" dirty="0">
              <a:solidFill>
                <a:schemeClr val="accent5"/>
              </a:solidFill>
              <a:latin typeface="Roboto" panose="02000000000000000000" pitchFamily="2" charset="0"/>
              <a:ea typeface="Roboto" panose="02000000000000000000" pitchFamily="2" charset="0"/>
              <a:cs typeface="Fira Sans Extra Condensed SemiBold"/>
              <a:sym typeface="Fira Sans Extra Condensed SemiBold"/>
            </a:endParaRPr>
          </a:p>
        </p:txBody>
      </p:sp>
      <p:sp>
        <p:nvSpPr>
          <p:cNvPr id="24" name="Google Shape;1917;p32">
            <a:extLst>
              <a:ext uri="{FF2B5EF4-FFF2-40B4-BE49-F238E27FC236}">
                <a16:creationId xmlns:a16="http://schemas.microsoft.com/office/drawing/2014/main" id="{4321EF36-6442-B478-5DC9-DB0E41D859B8}"/>
              </a:ext>
            </a:extLst>
          </p:cNvPr>
          <p:cNvSpPr/>
          <p:nvPr/>
        </p:nvSpPr>
        <p:spPr>
          <a:xfrm>
            <a:off x="886794" y="2598391"/>
            <a:ext cx="771349" cy="76707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1937;p32">
            <a:extLst>
              <a:ext uri="{FF2B5EF4-FFF2-40B4-BE49-F238E27FC236}">
                <a16:creationId xmlns:a16="http://schemas.microsoft.com/office/drawing/2014/main" id="{47F81881-7CB5-9665-3E04-A7C1534DE48B}"/>
              </a:ext>
            </a:extLst>
          </p:cNvPr>
          <p:cNvSpPr/>
          <p:nvPr/>
        </p:nvSpPr>
        <p:spPr>
          <a:xfrm>
            <a:off x="8002998" y="2397833"/>
            <a:ext cx="689433" cy="685870"/>
          </a:xfrm>
          <a:prstGeom prst="arc">
            <a:avLst>
              <a:gd name="adj1" fmla="val 16200000"/>
              <a:gd name="adj2" fmla="val 1621608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oval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7" name="Google Shape;1916;p32">
            <a:extLst>
              <a:ext uri="{FF2B5EF4-FFF2-40B4-BE49-F238E27FC236}">
                <a16:creationId xmlns:a16="http://schemas.microsoft.com/office/drawing/2014/main" id="{3497112E-4347-A3DC-48BC-451BB0CD5E10}"/>
              </a:ext>
            </a:extLst>
          </p:cNvPr>
          <p:cNvCxnSpPr>
            <a:cxnSpLocks/>
          </p:cNvCxnSpPr>
          <p:nvPr/>
        </p:nvCxnSpPr>
        <p:spPr>
          <a:xfrm rot="10800000" flipH="1">
            <a:off x="-537131" y="4898322"/>
            <a:ext cx="1809600" cy="7200"/>
          </a:xfrm>
          <a:prstGeom prst="bentConnector4">
            <a:avLst>
              <a:gd name="adj1" fmla="val 23214"/>
              <a:gd name="adj2" fmla="val 3408683"/>
            </a:avLst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Google Shape;1917;p32">
            <a:extLst>
              <a:ext uri="{FF2B5EF4-FFF2-40B4-BE49-F238E27FC236}">
                <a16:creationId xmlns:a16="http://schemas.microsoft.com/office/drawing/2014/main" id="{1CE4C3F1-FC15-7CEA-6238-E23DAEB5A70B}"/>
              </a:ext>
            </a:extLst>
          </p:cNvPr>
          <p:cNvSpPr/>
          <p:nvPr/>
        </p:nvSpPr>
        <p:spPr>
          <a:xfrm>
            <a:off x="886794" y="4905522"/>
            <a:ext cx="771349" cy="76707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3769;p39">
            <a:extLst>
              <a:ext uri="{FF2B5EF4-FFF2-40B4-BE49-F238E27FC236}">
                <a16:creationId xmlns:a16="http://schemas.microsoft.com/office/drawing/2014/main" id="{F81B5345-7CFC-D64B-98C6-9AAE2DD7DB78}"/>
              </a:ext>
            </a:extLst>
          </p:cNvPr>
          <p:cNvSpPr txBox="1">
            <a:spLocks/>
          </p:cNvSpPr>
          <p:nvPr/>
        </p:nvSpPr>
        <p:spPr>
          <a:xfrm>
            <a:off x="3992125" y="2357831"/>
            <a:ext cx="7423588" cy="1848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vi-VN" sz="1600" kern="0" dirty="0">
                <a:latin typeface="Roboto" panose="02000000000000000000" pitchFamily="2" charset="0"/>
                <a:ea typeface="Roboto" panose="02000000000000000000" pitchFamily="2" charset="0"/>
              </a:rPr>
              <a:t>Xây dựng thành công hệ thống RedBus bán vé xe khách với đầy đủ luồng đặt vé, thanh toán và quản trị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vi-VN" sz="1600" kern="0" dirty="0">
                <a:latin typeface="Roboto" panose="02000000000000000000" pitchFamily="2" charset="0"/>
                <a:ea typeface="Roboto" panose="02000000000000000000" pitchFamily="2" charset="0"/>
              </a:rPr>
              <a:t>Giao diện thân thiện: sơ đồ ghế trực quan, tra cứu vé không cần đăng nhập</a:t>
            </a:r>
            <a:endParaRPr lang="en-US" sz="1600" kern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Google Shape;3769;p39">
            <a:extLst>
              <a:ext uri="{FF2B5EF4-FFF2-40B4-BE49-F238E27FC236}">
                <a16:creationId xmlns:a16="http://schemas.microsoft.com/office/drawing/2014/main" id="{187B6540-35DE-2E14-13BD-3FAD64106D80}"/>
              </a:ext>
            </a:extLst>
          </p:cNvPr>
          <p:cNvSpPr txBox="1">
            <a:spLocks/>
          </p:cNvSpPr>
          <p:nvPr/>
        </p:nvSpPr>
        <p:spPr>
          <a:xfrm>
            <a:off x="3992124" y="4679841"/>
            <a:ext cx="7502169" cy="2041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vi-V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Tích hợp thông báo realtime (SSE), mở rộng kênh thanh toán và tối ưu hiệu năng API.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vi-V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Bổ sung ứng dụng di động, bản đồ lộ trình GPS và phân tích dữ liệu vận hành.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8412CE-0F27-F67F-FD00-40DAA672ABEE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14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168080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21" grpId="0"/>
      <p:bldP spid="22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6">
            <a:extLst>
              <a:ext uri="{FF2B5EF4-FFF2-40B4-BE49-F238E27FC236}">
                <a16:creationId xmlns:a16="http://schemas.microsoft.com/office/drawing/2014/main" id="{1F39509E-5B4D-6A0D-EEC2-5F2C8A05E3F5}"/>
              </a:ext>
            </a:extLst>
          </p:cNvPr>
          <p:cNvSpPr txBox="1">
            <a:spLocks/>
          </p:cNvSpPr>
          <p:nvPr/>
        </p:nvSpPr>
        <p:spPr>
          <a:xfrm>
            <a:off x="2062316" y="316289"/>
            <a:ext cx="80673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Fira Sans Extra Condensed SemiBold"/>
              <a:buNone/>
              <a:tabLst/>
              <a:defRPr/>
            </a:pP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oudy Old Style (Headings)"/>
                <a:ea typeface="Roboto" panose="02000000000000000000" pitchFamily="2" charset="0"/>
                <a:sym typeface="Fira Sans Extra Condensed SemiBold"/>
              </a:rPr>
              <a:t>DEMO CHƯƠNG TRÌNH</a:t>
            </a:r>
          </a:p>
        </p:txBody>
      </p:sp>
      <p:pic>
        <p:nvPicPr>
          <p:cNvPr id="2050" name="Picture 2" descr="Demo là gì? Ý nghĩa của từ demo - QuanTriMang.com">
            <a:extLst>
              <a:ext uri="{FF2B5EF4-FFF2-40B4-BE49-F238E27FC236}">
                <a16:creationId xmlns:a16="http://schemas.microsoft.com/office/drawing/2014/main" id="{7F6D62F1-CE65-0B2C-D6B6-7DD86A9DD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890" y="1583609"/>
            <a:ext cx="866222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B21A72-B6BE-C269-79B0-A1AA81AF7611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15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977144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CAA6B-F639-D9B0-0F4B-3A548AEF7CF3}"/>
              </a:ext>
            </a:extLst>
          </p:cNvPr>
          <p:cNvSpPr txBox="1"/>
          <p:nvPr/>
        </p:nvSpPr>
        <p:spPr>
          <a:xfrm>
            <a:off x="11569792" y="6302751"/>
            <a:ext cx="295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fld id="{C25EA4BC-3C33-4A5E-8A7B-57B512ADB6E6}" type="slidenum">
              <a:rPr lang="en-US" sz="1500" b="1" kern="0" smtClean="0"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16</a:t>
            </a:fld>
            <a:endParaRPr lang="en-US" sz="1500" b="1" kern="0" dirty="0">
              <a:latin typeface="Roboto" panose="02000000000000000000" pitchFamily="2" charset="0"/>
              <a:ea typeface="Roboto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NUMBER"/>
  <p:tag name="ID" val="547143"/>
  <p:tag name="MH_ORDER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ENTRY"/>
  <p:tag name="ID" val="547143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NUMBER"/>
  <p:tag name="ID" val="547143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ENTRY"/>
  <p:tag name="ID" val="547143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NUMBER"/>
  <p:tag name="ID" val="547143"/>
  <p:tag name="MH_ORDER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ENTRY"/>
  <p:tag name="ID" val="547143"/>
  <p:tag name="MH_ORDER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ENTRY"/>
  <p:tag name="ID" val="547143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244"/>
  <p:tag name="MH_LIBRARY" val="CONTENTS"/>
  <p:tag name="MH_TYPE" val="NUMBER"/>
  <p:tag name="ID" val="547143"/>
  <p:tag name="MH_ORDER" val="4"/>
</p:tagLst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 design</Template>
  <TotalTime>311</TotalTime>
  <Words>648</Words>
  <Application>Microsoft Office PowerPoint</Application>
  <PresentationFormat>Widescreen</PresentationFormat>
  <Paragraphs>124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Avenir Next LT Pro</vt:lpstr>
      <vt:lpstr>Calibri</vt:lpstr>
      <vt:lpstr>Fira Sans Extra Condensed SemiBold</vt:lpstr>
      <vt:lpstr>Goudy Old Style</vt:lpstr>
      <vt:lpstr>Goudy Old Style (Headings)</vt:lpstr>
      <vt:lpstr>Roboto</vt:lpstr>
      <vt:lpstr>Times New Roman</vt:lpstr>
      <vt:lpstr>Wingdings</vt:lpstr>
      <vt:lpstr>FrostyVTI</vt:lpstr>
      <vt:lpstr>Office Theme</vt:lpstr>
      <vt:lpstr>PowerPoint Presentation</vt:lpstr>
      <vt:lpstr>PowerPoint Presentation</vt:lpstr>
      <vt:lpstr>NỘI DUNG  BÁO CÁO</vt:lpstr>
      <vt:lpstr>TỔNG QUAN ĐỀ TÀI  </vt:lpstr>
      <vt:lpstr>PowerPoint Presentation</vt:lpstr>
      <vt:lpstr>PHÂN TÍCH THIẾT KẾ HỆ THỐNG</vt:lpstr>
      <vt:lpstr>PHÂN TÍCH THIẾT KẾ HỆ THỐNG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TIẾN KIÊN</dc:creator>
  <cp:lastModifiedBy>Hieu Tran Trung</cp:lastModifiedBy>
  <cp:revision>14</cp:revision>
  <dcterms:created xsi:type="dcterms:W3CDTF">2024-06-25T09:04:16Z</dcterms:created>
  <dcterms:modified xsi:type="dcterms:W3CDTF">2026-06-27T00:11:15Z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